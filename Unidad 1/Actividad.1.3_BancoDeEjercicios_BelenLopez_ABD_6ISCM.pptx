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85" r:id="rId3"/>
    <p:sldId id="284" r:id="rId4"/>
    <p:sldId id="294" r:id="rId5"/>
    <p:sldId id="295" r:id="rId6"/>
    <p:sldId id="296" r:id="rId7"/>
    <p:sldId id="297"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p:cViewPr varScale="1">
        <p:scale>
          <a:sx n="85" d="100"/>
          <a:sy n="85" d="100"/>
        </p:scale>
        <p:origin x="6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540278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912440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001075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59019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33523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7704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869416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261253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pPr/>
              <a:t>5/30/2026</a:t>
            </a:fld>
            <a:endParaRPr lang="en-US" dirty="0"/>
          </a:p>
        </p:txBody>
      </p:sp>
    </p:spTree>
    <p:extLst>
      <p:ext uri="{BB962C8B-B14F-4D97-AF65-F5344CB8AC3E}">
        <p14:creationId xmlns:p14="http://schemas.microsoft.com/office/powerpoint/2010/main" val="1859295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691192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68138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996669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18566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119710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5080327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066786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15559093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trabajo:1.3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Banco de ejercicios  </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24/04/</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959223" y="1828800"/>
            <a:ext cx="8516471" cy="3581400"/>
          </a:xfrm>
        </p:spPr>
        <p:txBody>
          <a:bodyPr>
            <a:normAutofit/>
          </a:bodyPr>
          <a:lstStyle/>
          <a:p>
            <a:pPr marL="0" indent="0" algn="just">
              <a:buNone/>
            </a:pPr>
            <a:r>
              <a:rPr lang="es-MX" sz="1400" dirty="0">
                <a:latin typeface="Arial" panose="020B0604020202020204" pitchFamily="34" charset="0"/>
                <a:cs typeface="Arial" panose="020B0604020202020204" pitchFamily="34" charset="0"/>
              </a:rPr>
              <a:t>En esta práctica se trabajó con la creación y administración de bases de datos utilizando distintos gestores, como Oracle, PostgreSQL y MySQL. Durante el proceso se aplicaron comandos básicos para crear usuarios, bases de datos, tablas e insertar información. También se realizaron consultas para comprobar que los datos se hubieran guardado correctamente. Aunque al inicio surgieron algunos errores al escribir ciertos comandos, estos fueron corregidos y permitieron continuar con la actividad. En general, esta práctica ayudó a reforzar los conocimientos sobre el manejo de diferentes sistemas gestores de bases de datos y permitió comprobar que la información fue almacenada de forma adecuada.</a:t>
            </a: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160797"/>
            <a:ext cx="851647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r>
              <a:rPr kumimoji="0" lang="es-MX" altLang="es-MX" sz="1400" b="0" i="0" u="none" strike="noStrike" cap="none" normalizeH="0" baseline="0" dirty="0">
                <a:ln>
                  <a:noFill/>
                </a:ln>
                <a:solidFill>
                  <a:schemeClr val="tx1"/>
                </a:solidFill>
                <a:effectLst/>
                <a:latin typeface="Arial" panose="020B0604020202020204" pitchFamily="34" charset="0"/>
              </a:rPr>
              <a:t>Esta práctica es importante porque permite reforzar los conocimientos sobre el uso y administración de bases de datos en diferentes sistemas gestores como Oracle, PostgreSQL y MySQL. A través de estas actividades se aprende a crear bases de datos, tablas, usuarios e insertar registros utilizando comandos básicos. Además, ayuda a comprender mejor cómo se almacena y consulta la información dentro de cada gestor. También permite identificar errores comunes al escribir comandos y corregirlos para obtener mejores resultados. Por eso, esta actividad es útil para desarrollar habilidades prácticas que pueden aplicarse en un entorno real de trabajo relacionado con la administración de bases de datos.</a:t>
            </a:r>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C21A5CD-65D0-47F5-BD84-5C0FD95A1EA2}"/>
              </a:ext>
            </a:extLst>
          </p:cNvPr>
          <p:cNvPicPr>
            <a:picLocks noGrp="1" noChangeAspect="1"/>
          </p:cNvPicPr>
          <p:nvPr>
            <p:ph idx="1"/>
          </p:nvPr>
        </p:nvPicPr>
        <p:blipFill>
          <a:blip r:embed="rId2"/>
          <a:stretch>
            <a:fillRect/>
          </a:stretch>
        </p:blipFill>
        <p:spPr>
          <a:xfrm>
            <a:off x="72032" y="0"/>
            <a:ext cx="6893859" cy="3739419"/>
          </a:xfrm>
        </p:spPr>
      </p:pic>
      <p:sp>
        <p:nvSpPr>
          <p:cNvPr id="9" name="Rectangle 2">
            <a:extLst>
              <a:ext uri="{FF2B5EF4-FFF2-40B4-BE49-F238E27FC236}">
                <a16:creationId xmlns:a16="http://schemas.microsoft.com/office/drawing/2014/main" id="{4DB2AEBE-1740-4A23-8DEB-B22881CFC196}"/>
              </a:ext>
            </a:extLst>
          </p:cNvPr>
          <p:cNvSpPr>
            <a:spLocks noChangeArrowheads="1"/>
          </p:cNvSpPr>
          <p:nvPr/>
        </p:nvSpPr>
        <p:spPr bwMode="auto">
          <a:xfrm rot="10800000" flipV="1">
            <a:off x="209847" y="3928136"/>
            <a:ext cx="9256882"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latin typeface="Arial" panose="020B0604020202020204" pitchFamily="34" charset="0"/>
                <a:cs typeface="Arial" panose="020B0604020202020204" pitchFamily="34" charset="0"/>
              </a:rPr>
              <a:t>Primero verifiqué que el contenedor de Oracle con Docker no se encontraba activo, por lo que lo inicié utilizando el comando </a:t>
            </a:r>
            <a:r>
              <a:rPr lang="es-MX" altLang="es-MX" sz="1600" dirty="0" err="1">
                <a:latin typeface="Arial" panose="020B0604020202020204" pitchFamily="34" charset="0"/>
                <a:cs typeface="Arial" panose="020B0604020202020204" pitchFamily="34" charset="0"/>
              </a:rPr>
              <a:t>docker</a:t>
            </a:r>
            <a:r>
              <a:rPr lang="es-MX" altLang="es-MX" sz="1600" dirty="0">
                <a:latin typeface="Arial" panose="020B0604020202020204" pitchFamily="34" charset="0"/>
                <a:cs typeface="Arial" panose="020B0604020202020204" pitchFamily="34" charset="0"/>
              </a:rPr>
              <a:t> </a:t>
            </a:r>
            <a:r>
              <a:rPr lang="es-MX" altLang="es-MX" sz="1600" dirty="0" err="1">
                <a:latin typeface="Arial" panose="020B0604020202020204" pitchFamily="34" charset="0"/>
                <a:cs typeface="Arial" panose="020B0604020202020204" pitchFamily="34" charset="0"/>
              </a:rPr>
              <a:t>start</a:t>
            </a:r>
            <a:r>
              <a:rPr lang="es-MX" altLang="es-MX" sz="1600" dirty="0">
                <a:latin typeface="Arial" panose="020B0604020202020204" pitchFamily="34" charset="0"/>
                <a:cs typeface="Arial" panose="020B0604020202020204" pitchFamily="34" charset="0"/>
              </a:rPr>
              <a:t> </a:t>
            </a:r>
            <a:r>
              <a:rPr lang="es-MX" altLang="es-MX" sz="1600" dirty="0" err="1">
                <a:latin typeface="Arial" panose="020B0604020202020204" pitchFamily="34" charset="0"/>
                <a:cs typeface="Arial" panose="020B0604020202020204" pitchFamily="34" charset="0"/>
              </a:rPr>
              <a:t>oracle-xe</a:t>
            </a:r>
            <a:r>
              <a:rPr lang="es-MX" altLang="es-MX" sz="1600" dirty="0">
                <a:latin typeface="Arial" panose="020B0604020202020204" pitchFamily="34" charset="0"/>
                <a:cs typeface="Arial" panose="020B0604020202020204" pitchFamily="34" charset="0"/>
              </a:rPr>
              <a:t>. Después ingresé al contenedor y me conecté a Oracle mediante </a:t>
            </a:r>
            <a:r>
              <a:rPr lang="es-MX" altLang="es-MX" sz="1600" dirty="0" err="1">
                <a:latin typeface="Arial" panose="020B0604020202020204" pitchFamily="34" charset="0"/>
                <a:cs typeface="Arial" panose="020B0604020202020204" pitchFamily="34" charset="0"/>
              </a:rPr>
              <a:t>SQLPlus</a:t>
            </a:r>
            <a:r>
              <a:rPr lang="es-MX" altLang="es-MX" sz="1600" dirty="0">
                <a:latin typeface="Arial" panose="020B0604020202020204" pitchFamily="34" charset="0"/>
                <a:cs typeface="Arial" panose="020B0604020202020204" pitchFamily="34" charset="0"/>
              </a:rPr>
              <a:t> con el usuario </a:t>
            </a:r>
            <a:r>
              <a:rPr lang="es-MX" altLang="es-MX" sz="1600" dirty="0" err="1">
                <a:latin typeface="Arial" panose="020B0604020202020204" pitchFamily="34" charset="0"/>
                <a:cs typeface="Arial" panose="020B0604020202020204" pitchFamily="34" charset="0"/>
              </a:rPr>
              <a:t>system</a:t>
            </a:r>
            <a:r>
              <a:rPr lang="es-MX" altLang="es-MX" sz="1600" dirty="0">
                <a:latin typeface="Arial" panose="020B0604020202020204" pitchFamily="34" charset="0"/>
                <a:cs typeface="Arial" panose="020B0604020202020204" pitchFamily="34" charset="0"/>
              </a:rPr>
              <a:t>. Una vez dentro de Oracle, intenté crear el usuario </a:t>
            </a:r>
            <a:r>
              <a:rPr lang="es-MX" altLang="es-MX" sz="1600" dirty="0" err="1">
                <a:latin typeface="Arial" panose="020B0604020202020204" pitchFamily="34" charset="0"/>
                <a:cs typeface="Arial" panose="020B0604020202020204" pitchFamily="34" charset="0"/>
              </a:rPr>
              <a:t>escuela_oracle</a:t>
            </a:r>
            <a:r>
              <a:rPr lang="es-MX" altLang="es-MX" sz="1600" dirty="0">
                <a:latin typeface="Arial" panose="020B0604020202020204" pitchFamily="34" charset="0"/>
                <a:cs typeface="Arial" panose="020B0604020202020204" pitchFamily="34" charset="0"/>
              </a:rPr>
              <a:t>, pero el sistema me indicó que ese usuario ya existía. Posteriormente, le asigné los permisos necesarios y accedí con dicho usuario. También intenté crear la tabla alumnos, pero Oracle mostró que ya se encontraba creada anteriormente. Finalmente, inserté un registro en la tabla con los datos de Ana López, edad 21 y carrera Ingeniería en Sistemas. El sistema confirmó la operación con el mensaje 1 </a:t>
            </a:r>
            <a:r>
              <a:rPr lang="es-MX" altLang="es-MX" sz="1600" dirty="0" err="1">
                <a:latin typeface="Arial" panose="020B0604020202020204" pitchFamily="34" charset="0"/>
                <a:cs typeface="Arial" panose="020B0604020202020204" pitchFamily="34" charset="0"/>
              </a:rPr>
              <a:t>row</a:t>
            </a:r>
            <a:r>
              <a:rPr lang="es-MX" altLang="es-MX" sz="1600" dirty="0">
                <a:latin typeface="Arial" panose="020B0604020202020204" pitchFamily="34" charset="0"/>
                <a:cs typeface="Arial" panose="020B0604020202020204" pitchFamily="34" charset="0"/>
              </a:rPr>
              <a:t> </a:t>
            </a:r>
            <a:r>
              <a:rPr lang="es-MX" altLang="es-MX" sz="1600" dirty="0" err="1">
                <a:latin typeface="Arial" panose="020B0604020202020204" pitchFamily="34" charset="0"/>
                <a:cs typeface="Arial" panose="020B0604020202020204" pitchFamily="34" charset="0"/>
              </a:rPr>
              <a:t>created</a:t>
            </a:r>
            <a:r>
              <a:rPr lang="es-MX" altLang="es-MX" sz="1600" dirty="0">
                <a:latin typeface="Arial" panose="020B0604020202020204" pitchFamily="34" charset="0"/>
                <a:cs typeface="Arial" panose="020B0604020202020204" pitchFamily="34" charset="0"/>
              </a:rPr>
              <a:t>, lo que significa que el dato fue guardado correctamente. </a:t>
            </a:r>
          </a:p>
        </p:txBody>
      </p:sp>
    </p:spTree>
    <p:extLst>
      <p:ext uri="{BB962C8B-B14F-4D97-AF65-F5344CB8AC3E}">
        <p14:creationId xmlns:p14="http://schemas.microsoft.com/office/powerpoint/2010/main" val="87553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B2C3651E-4232-4ECC-9109-C7E265A718D5}"/>
              </a:ext>
            </a:extLst>
          </p:cNvPr>
          <p:cNvPicPr>
            <a:picLocks noGrp="1" noChangeAspect="1"/>
          </p:cNvPicPr>
          <p:nvPr>
            <p:ph idx="1"/>
          </p:nvPr>
        </p:nvPicPr>
        <p:blipFill>
          <a:blip r:embed="rId2"/>
          <a:stretch>
            <a:fillRect/>
          </a:stretch>
        </p:blipFill>
        <p:spPr>
          <a:xfrm>
            <a:off x="103504" y="0"/>
            <a:ext cx="6325767" cy="3218234"/>
          </a:xfrm>
        </p:spPr>
      </p:pic>
      <p:sp>
        <p:nvSpPr>
          <p:cNvPr id="8" name="Rectangle 2">
            <a:extLst>
              <a:ext uri="{FF2B5EF4-FFF2-40B4-BE49-F238E27FC236}">
                <a16:creationId xmlns:a16="http://schemas.microsoft.com/office/drawing/2014/main" id="{8DC866E6-0981-4749-9351-66B7A876D29E}"/>
              </a:ext>
            </a:extLst>
          </p:cNvPr>
          <p:cNvSpPr>
            <a:spLocks noChangeArrowheads="1"/>
          </p:cNvSpPr>
          <p:nvPr/>
        </p:nvSpPr>
        <p:spPr bwMode="auto">
          <a:xfrm>
            <a:off x="286870" y="3600302"/>
            <a:ext cx="746760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Después de registrar la información en la tabla trabajadores, ejecuté el comando COMMIT; para confirmar y guardar los cambios realizados en Oracle. Luego utilicé la consulta SELECT * FROM trabajadores; para verificar los datos almacenados. En el resultado se pudo observar que el registro fue guardado correctamente, mostrando la información del trabajador Carlos Ramírez, con 25 de edad y perteneciente al área de Ingeniería en Sistemas. Esto confirma que la tabla ya contenía información y que la inserción se realizó correctamente dentro de la base de datos.</a:t>
            </a:r>
          </a:p>
        </p:txBody>
      </p:sp>
    </p:spTree>
    <p:extLst>
      <p:ext uri="{BB962C8B-B14F-4D97-AF65-F5344CB8AC3E}">
        <p14:creationId xmlns:p14="http://schemas.microsoft.com/office/powerpoint/2010/main" val="1214216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8FC05CC-EEA6-4E0E-897F-FEF62C8CF0B7}"/>
              </a:ext>
            </a:extLst>
          </p:cNvPr>
          <p:cNvPicPr>
            <a:picLocks noChangeAspect="1"/>
          </p:cNvPicPr>
          <p:nvPr/>
        </p:nvPicPr>
        <p:blipFill>
          <a:blip r:embed="rId2"/>
          <a:stretch>
            <a:fillRect/>
          </a:stretch>
        </p:blipFill>
        <p:spPr>
          <a:xfrm>
            <a:off x="98543" y="107576"/>
            <a:ext cx="5083058" cy="3068488"/>
          </a:xfrm>
          <a:prstGeom prst="rect">
            <a:avLst/>
          </a:prstGeom>
        </p:spPr>
      </p:pic>
      <p:sp>
        <p:nvSpPr>
          <p:cNvPr id="6" name="CuadroTexto 5">
            <a:extLst>
              <a:ext uri="{FF2B5EF4-FFF2-40B4-BE49-F238E27FC236}">
                <a16:creationId xmlns:a16="http://schemas.microsoft.com/office/drawing/2014/main" id="{2FBCA501-65B3-41DC-B01E-B2A27D540990}"/>
              </a:ext>
            </a:extLst>
          </p:cNvPr>
          <p:cNvSpPr txBox="1"/>
          <p:nvPr/>
        </p:nvSpPr>
        <p:spPr>
          <a:xfrm>
            <a:off x="-251367" y="8404481"/>
            <a:ext cx="6882623" cy="307777"/>
          </a:xfrm>
          <a:prstGeom prst="rect">
            <a:avLst/>
          </a:prstGeom>
          <a:noFill/>
        </p:spPr>
        <p:txBody>
          <a:bodyPr wrap="square" rtlCol="0">
            <a:spAutoFit/>
          </a:bodyPr>
          <a:lstStyle/>
          <a:p>
            <a:pPr algn="just"/>
            <a:endParaRPr lang="es-MX" sz="1400" dirty="0">
              <a:latin typeface="Arial" panose="020B0604020202020204" pitchFamily="34" charset="0"/>
              <a:cs typeface="Arial" panose="020B0604020202020204" pitchFamily="34" charset="0"/>
            </a:endParaRPr>
          </a:p>
        </p:txBody>
      </p:sp>
      <p:sp>
        <p:nvSpPr>
          <p:cNvPr id="7" name="Rectangle 1">
            <a:extLst>
              <a:ext uri="{FF2B5EF4-FFF2-40B4-BE49-F238E27FC236}">
                <a16:creationId xmlns:a16="http://schemas.microsoft.com/office/drawing/2014/main" id="{7A1FC596-0016-44AE-AF40-AD3B6FA20880}"/>
              </a:ext>
            </a:extLst>
          </p:cNvPr>
          <p:cNvSpPr>
            <a:spLocks noChangeArrowheads="1"/>
          </p:cNvSpPr>
          <p:nvPr/>
        </p:nvSpPr>
        <p:spPr bwMode="auto">
          <a:xfrm>
            <a:off x="170260" y="3359185"/>
            <a:ext cx="961023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accedí al usuario </a:t>
            </a:r>
            <a:r>
              <a:rPr lang="es-MX" altLang="es-MX" sz="1400" dirty="0" err="1">
                <a:latin typeface="Arial" panose="020B0604020202020204" pitchFamily="34" charset="0"/>
                <a:cs typeface="Arial" panose="020B0604020202020204" pitchFamily="34" charset="0"/>
              </a:rPr>
              <a:t>postgres</a:t>
            </a:r>
            <a:r>
              <a:rPr lang="es-MX" altLang="es-MX" sz="1400" dirty="0">
                <a:latin typeface="Arial" panose="020B0604020202020204" pitchFamily="34" charset="0"/>
                <a:cs typeface="Arial" panose="020B0604020202020204" pitchFamily="34" charset="0"/>
              </a:rPr>
              <a:t> y abrí PostgreSQL utilizando el comando </a:t>
            </a:r>
            <a:r>
              <a:rPr lang="es-MX" altLang="es-MX" sz="1400" dirty="0" err="1">
                <a:latin typeface="Arial" panose="020B0604020202020204" pitchFamily="34" charset="0"/>
                <a:cs typeface="Arial" panose="020B0604020202020204" pitchFamily="34" charset="0"/>
              </a:rPr>
              <a:t>psql</a:t>
            </a:r>
            <a:r>
              <a:rPr lang="es-MX" altLang="es-MX" sz="1400" dirty="0">
                <a:latin typeface="Arial" panose="020B0604020202020204" pitchFamily="34" charset="0"/>
                <a:cs typeface="Arial" panose="020B0604020202020204" pitchFamily="34" charset="0"/>
              </a:rPr>
              <a:t>. Al inicio intenté crear la base de datos, pero cometí un error al escribir el comando, ya que el indicador </a:t>
            </a:r>
            <a:r>
              <a:rPr lang="es-MX" altLang="es-MX" sz="1400" dirty="0" err="1">
                <a:latin typeface="Arial" panose="020B0604020202020204" pitchFamily="34" charset="0"/>
                <a:cs typeface="Arial" panose="020B0604020202020204" pitchFamily="34" charset="0"/>
              </a:rPr>
              <a:t>postgres</a:t>
            </a:r>
            <a:r>
              <a:rPr lang="es-MX" altLang="es-MX" sz="1400" dirty="0">
                <a:latin typeface="Arial" panose="020B0604020202020204" pitchFamily="34" charset="0"/>
                <a:cs typeface="Arial" panose="020B0604020202020204" pitchFamily="34" charset="0"/>
              </a:rPr>
              <a:t>=# quedó incluido y eso provocó un mensaje de error de sintaxis. Después corregí la instrucción y logré crear correctamente la base de datos llamada empresa_postgres2.</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Luego revisé las bases de datos existentes con el comando \l, donde pude confirmar que la nueva base ya aparecía registrada. Más adelante me conecté a ella con \c empresa_postgres2 y creé la tabla trabajadores, agregando campos como id, nombre, edad y puesto. Finalmente inserté un registro con el nombre Carlos Ramírez, edad 22 y puesto Ingeniero en Sistemas. Para comprobar que la información se guardó correctamente, ejecuté SELECT * FROM trabajadores;, y el sistema mostró el registro almacenado dentro de la tabla.</a:t>
            </a:r>
          </a:p>
        </p:txBody>
      </p:sp>
    </p:spTree>
    <p:extLst>
      <p:ext uri="{BB962C8B-B14F-4D97-AF65-F5344CB8AC3E}">
        <p14:creationId xmlns:p14="http://schemas.microsoft.com/office/powerpoint/2010/main" val="290525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7BF5EE09-5A10-462A-8584-57A57068F639}"/>
              </a:ext>
            </a:extLst>
          </p:cNvPr>
          <p:cNvPicPr>
            <a:picLocks noGrp="1" noChangeAspect="1"/>
          </p:cNvPicPr>
          <p:nvPr>
            <p:ph idx="1"/>
          </p:nvPr>
        </p:nvPicPr>
        <p:blipFill>
          <a:blip r:embed="rId2"/>
          <a:stretch>
            <a:fillRect/>
          </a:stretch>
        </p:blipFill>
        <p:spPr>
          <a:xfrm>
            <a:off x="123403" y="89741"/>
            <a:ext cx="5781648" cy="3182377"/>
          </a:xfrm>
        </p:spPr>
      </p:pic>
      <p:sp>
        <p:nvSpPr>
          <p:cNvPr id="7" name="Rectangle 1">
            <a:extLst>
              <a:ext uri="{FF2B5EF4-FFF2-40B4-BE49-F238E27FC236}">
                <a16:creationId xmlns:a16="http://schemas.microsoft.com/office/drawing/2014/main" id="{0D55B659-2F8E-4F9D-9918-EB7717C4FE5C}"/>
              </a:ext>
            </a:extLst>
          </p:cNvPr>
          <p:cNvSpPr>
            <a:spLocks noChangeArrowheads="1"/>
          </p:cNvSpPr>
          <p:nvPr/>
        </p:nvSpPr>
        <p:spPr bwMode="auto">
          <a:xfrm>
            <a:off x="123403" y="3521611"/>
            <a:ext cx="1014804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ingresé a MySQL utilizando el usuario </a:t>
            </a:r>
            <a:r>
              <a:rPr lang="es-MX" altLang="es-MX" sz="1400" dirty="0" err="1">
                <a:latin typeface="Arial" panose="020B0604020202020204" pitchFamily="34" charset="0"/>
                <a:cs typeface="Arial" panose="020B0604020202020204" pitchFamily="34" charset="0"/>
              </a:rPr>
              <a:t>root</a:t>
            </a:r>
            <a:r>
              <a:rPr lang="es-MX" altLang="es-MX" sz="1400" dirty="0">
                <a:latin typeface="Arial" panose="020B0604020202020204" pitchFamily="34" charset="0"/>
                <a:cs typeface="Arial" panose="020B0604020202020204" pitchFamily="34" charset="0"/>
              </a:rPr>
              <a:t>. Al principio cometí un error porque escribí el comando sudo </a:t>
            </a:r>
            <a:r>
              <a:rPr lang="es-MX" altLang="es-MX" sz="1400" dirty="0" err="1">
                <a:latin typeface="Arial" panose="020B0604020202020204" pitchFamily="34" charset="0"/>
                <a:cs typeface="Arial" panose="020B0604020202020204" pitchFamily="34" charset="0"/>
              </a:rPr>
              <a:t>mysql</a:t>
            </a:r>
            <a:r>
              <a:rPr lang="es-MX" altLang="es-MX" sz="1400" dirty="0">
                <a:latin typeface="Arial" panose="020B0604020202020204" pitchFamily="34" charset="0"/>
                <a:cs typeface="Arial" panose="020B0604020202020204" pitchFamily="34" charset="0"/>
              </a:rPr>
              <a:t> estando ya dentro de MySQL, lo que provocó un mensaje de error de sintaxis. Después corregí el procedimiento y creé correctamente la base de datos llamada </a:t>
            </a:r>
            <a:r>
              <a:rPr lang="es-MX" altLang="es-MX" sz="1400" dirty="0" err="1">
                <a:latin typeface="Arial" panose="020B0604020202020204" pitchFamily="34" charset="0"/>
                <a:cs typeface="Arial" panose="020B0604020202020204" pitchFamily="34" charset="0"/>
              </a:rPr>
              <a:t>empresa_mysql</a:t>
            </a:r>
            <a:r>
              <a:rPr lang="es-MX" altLang="es-MX" sz="1400" dirty="0">
                <a:latin typeface="Arial" panose="020B0604020202020204" pitchFamily="34" charset="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Luego comprobé que la base de datos se hubiera creado usando el comando SHOW DATABASES;, donde ya aparecía en la lista. Posteriormente accedí a ella con USE </a:t>
            </a:r>
            <a:r>
              <a:rPr lang="es-MX" altLang="es-MX" sz="1400" dirty="0" err="1">
                <a:latin typeface="Arial" panose="020B0604020202020204" pitchFamily="34" charset="0"/>
                <a:cs typeface="Arial" panose="020B0604020202020204" pitchFamily="34" charset="0"/>
              </a:rPr>
              <a:t>empresa_mysql</a:t>
            </a:r>
            <a:r>
              <a:rPr lang="es-MX" altLang="es-MX" sz="1400" dirty="0">
                <a:latin typeface="Arial" panose="020B0604020202020204" pitchFamily="34" charset="0"/>
                <a:cs typeface="Arial" panose="020B0604020202020204" pitchFamily="34" charset="0"/>
              </a:rPr>
              <a:t>; y creé la tabla trabajadores, agregando los campos id, nombre, edad y puesto. Finalmente registré los datos de Luis Hernández, de 24 años, con el puesto de Técnico en Sistemas. Para verificar que la información se guardó bien, ejecuté SELECT * FROM trabajadores; y se mostró el registro almacenado correctamente en la tabla</a:t>
            </a:r>
          </a:p>
        </p:txBody>
      </p:sp>
    </p:spTree>
    <p:extLst>
      <p:ext uri="{BB962C8B-B14F-4D97-AF65-F5344CB8AC3E}">
        <p14:creationId xmlns:p14="http://schemas.microsoft.com/office/powerpoint/2010/main" val="258873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304800" y="1638299"/>
            <a:ext cx="9144000" cy="4045527"/>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En esta actividad se pudo realizar la creación de bases de datos, tablas y registros utilizando los gestores Oracle, PostgreSQL y MySQL. Además, se verificó que los datos ingresados se almacenaran correctamente mediante consultas de comprobación. Con esta práctica reforcé el uso de comandos básicos y comprendí mejor cómo se trabaja en cada sistema gestor de bases de datos. En general, la actividad cumplió con su propósito, ya que permitió aplicar los conocimientos vistos en clase dentro de un entorno práctico y real.</a:t>
            </a: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486</TotalTime>
  <Words>940</Words>
  <Application>Microsoft Office PowerPoint</Application>
  <PresentationFormat>Panorámica</PresentationFormat>
  <Paragraphs>23</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INTRODUCCIÓN </vt:lpstr>
      <vt:lpstr>JUSTIFICACION</vt:lpstr>
      <vt:lpstr>Presentación de PowerPoint</vt:lpstr>
      <vt:lpstr>Presentación de PowerPoint</vt:lpstr>
      <vt:lpstr>Presentación de PowerPoint</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33</cp:revision>
  <dcterms:created xsi:type="dcterms:W3CDTF">2026-05-01T07:03:44Z</dcterms:created>
  <dcterms:modified xsi:type="dcterms:W3CDTF">2026-05-30T17:12:28Z</dcterms:modified>
</cp:coreProperties>
</file>
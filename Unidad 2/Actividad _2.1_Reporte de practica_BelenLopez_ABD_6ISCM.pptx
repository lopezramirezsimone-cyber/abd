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5" r:id="rId3"/>
    <p:sldId id="284" r:id="rId4"/>
    <p:sldId id="257" r:id="rId5"/>
    <p:sldId id="258" r:id="rId6"/>
    <p:sldId id="287" r:id="rId7"/>
    <p:sldId id="288" r:id="rId8"/>
    <p:sldId id="289" r:id="rId9"/>
    <p:sldId id="290" r:id="rId10"/>
    <p:sldId id="291" r:id="rId11"/>
    <p:sldId id="292" r:id="rId12"/>
    <p:sldId id="286" r:id="rId13"/>
    <p:sldId id="29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07" autoAdjust="0"/>
    <p:restoredTop sz="94660"/>
  </p:normalViewPr>
  <p:slideViewPr>
    <p:cSldViewPr snapToGrid="0">
      <p:cViewPr>
        <p:scale>
          <a:sx n="74" d="100"/>
          <a:sy n="74" d="100"/>
        </p:scale>
        <p:origin x="1080" y="3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5/30/2026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‹Nº›</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5/30/2026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5/30/2026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5/30/2026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5/30/2026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5/30/2026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5/30/2026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5/30/2026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‹Nº›</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aberpunto.com/tecnologia/requerimientos-de-instalacion-conoce-los-pasos-para-una-configuracion-exitosa" TargetMode="External"/><Relationship Id="rId2" Type="http://schemas.openxmlformats.org/officeDocument/2006/relationships/hyperlink" Target="https://administracionbasededatosequipo4.blogspot.com/2021/07/estructura-de-memoria-y-procesos-de-la.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50C69D-BBBD-4F17-8133-94C6C7338196}"/>
              </a:ext>
            </a:extLst>
          </p:cNvPr>
          <p:cNvPicPr>
            <a:picLocks noChangeAspect="1"/>
          </p:cNvPicPr>
          <p:nvPr/>
        </p:nvPicPr>
        <p:blipFill rotWithShape="1">
          <a:blip r:embed="rId2"/>
          <a:srcRect l="6551" t="37365" r="5073"/>
          <a:stretch/>
        </p:blipFill>
        <p:spPr>
          <a:xfrm>
            <a:off x="2348753" y="1192306"/>
            <a:ext cx="7871012" cy="493060"/>
          </a:xfrm>
          <a:prstGeom prst="rect">
            <a:avLst/>
          </a:prstGeom>
        </p:spPr>
      </p:pic>
      <p:sp>
        <p:nvSpPr>
          <p:cNvPr id="6" name="CuadroTexto 5">
            <a:extLst>
              <a:ext uri="{FF2B5EF4-FFF2-40B4-BE49-F238E27FC236}">
                <a16:creationId xmlns:a16="http://schemas.microsoft.com/office/drawing/2014/main" id="{506993DB-65C9-450C-8724-028B67E627C7}"/>
              </a:ext>
            </a:extLst>
          </p:cNvPr>
          <p:cNvSpPr txBox="1"/>
          <p:nvPr/>
        </p:nvSpPr>
        <p:spPr>
          <a:xfrm>
            <a:off x="3325907" y="1685366"/>
            <a:ext cx="6517340" cy="4085093"/>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a:t>
            </a:r>
          </a:p>
          <a:p>
            <a:pPr marL="12700" marR="1219200" indent="-12700" algn="ctr">
              <a:lnSpc>
                <a:spcPct val="107000"/>
              </a:lnSpc>
              <a:spcAft>
                <a:spcPts val="111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Administración de base de datos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sz="1400"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Reporte de practica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2.1 </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p>
          <a:p>
            <a:pPr marL="12700" marR="881380" indent="-12700" algn="ctr">
              <a:lnSpc>
                <a:spcPct val="157000"/>
              </a:lnSpc>
              <a:spcAft>
                <a:spcPts val="1390"/>
              </a:spcAft>
            </a:pPr>
            <a:r>
              <a:rPr lang="es-MX" sz="1400"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p>
          <a:p>
            <a:pPr algn="ct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Frontera Comalapa , Chiapas a </a:t>
            </a:r>
            <a:r>
              <a:rPr lang="es-MX" sz="1400" dirty="0">
                <a:solidFill>
                  <a:srgbClr val="000000"/>
                </a:solidFill>
                <a:latin typeface="Arial" panose="020B0604020202020204" pitchFamily="34" charset="0"/>
                <a:ea typeface="Arial" panose="020B0604020202020204" pitchFamily="34" charset="0"/>
                <a:cs typeface="Arial" panose="020B0604020202020204" pitchFamily="34" charset="0"/>
              </a:rPr>
              <a:t>26/04/</a:t>
            </a:r>
            <a:r>
              <a:rPr lang="es-MX" sz="1400" dirty="0">
                <a:solidFill>
                  <a:srgbClr val="000000"/>
                </a:solidFill>
                <a:effectLst/>
                <a:latin typeface="Arial" panose="020B0604020202020204" pitchFamily="34" charset="0"/>
                <a:ea typeface="Arial" panose="020B0604020202020204" pitchFamily="34" charset="0"/>
                <a:cs typeface="Arial" panose="020B0604020202020204" pitchFamily="34" charset="0"/>
              </a:rPr>
              <a:t>2026 </a:t>
            </a:r>
            <a:endParaRPr lang="es-MX"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86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4523B-31FB-4F59-A12E-EF01687EC1E2}"/>
              </a:ext>
            </a:extLst>
          </p:cNvPr>
          <p:cNvSpPr>
            <a:spLocks noGrp="1"/>
          </p:cNvSpPr>
          <p:nvPr>
            <p:ph type="title"/>
          </p:nvPr>
        </p:nvSpPr>
        <p:spPr/>
        <p:txBody>
          <a:bodyPr>
            <a:normAutofit/>
          </a:bodyPr>
          <a:lstStyle/>
          <a:p>
            <a:pPr algn="ctr"/>
            <a:r>
              <a:rPr lang="es-MX" sz="4000" b="1" dirty="0">
                <a:latin typeface="Arial" panose="020B0604020202020204" pitchFamily="34" charset="0"/>
                <a:cs typeface="Arial" panose="020B0604020202020204" pitchFamily="34" charset="0"/>
              </a:rPr>
              <a:t>INTRODUCCIÓN </a:t>
            </a:r>
          </a:p>
        </p:txBody>
      </p:sp>
      <p:sp>
        <p:nvSpPr>
          <p:cNvPr id="3" name="Marcador de contenido 2">
            <a:extLst>
              <a:ext uri="{FF2B5EF4-FFF2-40B4-BE49-F238E27FC236}">
                <a16:creationId xmlns:a16="http://schemas.microsoft.com/office/drawing/2014/main" id="{51BB4FFF-1A44-44B7-B117-1B035ACBAA68}"/>
              </a:ext>
            </a:extLst>
          </p:cNvPr>
          <p:cNvSpPr>
            <a:spLocks noGrp="1"/>
          </p:cNvSpPr>
          <p:nvPr>
            <p:ph idx="1"/>
          </p:nvPr>
        </p:nvSpPr>
        <p:spPr>
          <a:xfrm>
            <a:off x="959223" y="1828800"/>
            <a:ext cx="11017624" cy="3581400"/>
          </a:xfrm>
        </p:spPr>
        <p:txBody>
          <a:bodyPr>
            <a:normAutofit/>
          </a:bodyPr>
          <a:lstStyle/>
          <a:p>
            <a:pPr marL="0" indent="0" algn="just">
              <a:buNone/>
            </a:pPr>
            <a:r>
              <a:rPr lang="es-MX" dirty="0">
                <a:latin typeface="Arial" panose="020B0604020202020204" pitchFamily="34" charset="0"/>
                <a:cs typeface="Arial" panose="020B0604020202020204" pitchFamily="34" charset="0"/>
              </a:rPr>
              <a:t>Un Sistema Gestor de Base de Datos, conocido como SGBD, es un software que permite crear, administrar, organizar y proteger la información almacenada en una base de datos. Su arquitectura está formada por diferentes componentes, como la memoria, los procesos, los archivos físicos y las herramientas de administración. Conocer estos elementos es importante porque ayuda a comprender cómo trabaja internamente una base de datos y qué se necesita para instalarla correctamente. En esta exposición se explican los principales temas relacionados con la arquitectura e instalación de un SGBD, desde su estructura interna hasta los comandos generales para iniciar o detener el servicio.</a:t>
            </a:r>
          </a:p>
        </p:txBody>
      </p:sp>
    </p:spTree>
    <p:extLst>
      <p:ext uri="{BB962C8B-B14F-4D97-AF65-F5344CB8AC3E}">
        <p14:creationId xmlns:p14="http://schemas.microsoft.com/office/powerpoint/2010/main" val="32932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FD57D-AB14-423D-8CD4-7A9E7BE99C6C}"/>
              </a:ext>
            </a:extLst>
          </p:cNvPr>
          <p:cNvSpPr>
            <a:spLocks noGrp="1"/>
          </p:cNvSpPr>
          <p:nvPr>
            <p:ph type="title"/>
          </p:nvPr>
        </p:nvSpPr>
        <p:spPr>
          <a:xfrm>
            <a:off x="1371600" y="685800"/>
            <a:ext cx="9601200" cy="802341"/>
          </a:xfrm>
        </p:spPr>
        <p:txBody>
          <a:bodyPr/>
          <a:lstStyle/>
          <a:p>
            <a:pPr algn="ctr"/>
            <a:r>
              <a:rPr lang="es-MX" b="1" dirty="0">
                <a:latin typeface="Arial" panose="020B0604020202020204" pitchFamily="34" charset="0"/>
                <a:cs typeface="Arial" panose="020B0604020202020204" pitchFamily="34" charset="0"/>
              </a:rPr>
              <a:t>OBJETIVO</a:t>
            </a:r>
          </a:p>
        </p:txBody>
      </p:sp>
      <p:sp>
        <p:nvSpPr>
          <p:cNvPr id="3" name="Marcador de contenido 2">
            <a:extLst>
              <a:ext uri="{FF2B5EF4-FFF2-40B4-BE49-F238E27FC236}">
                <a16:creationId xmlns:a16="http://schemas.microsoft.com/office/drawing/2014/main" id="{FADFC5CC-42D8-4A71-80E2-7859CD8CC660}"/>
              </a:ext>
            </a:extLst>
          </p:cNvPr>
          <p:cNvSpPr>
            <a:spLocks noGrp="1"/>
          </p:cNvSpPr>
          <p:nvPr>
            <p:ph idx="1"/>
          </p:nvPr>
        </p:nvSpPr>
        <p:spPr>
          <a:xfrm>
            <a:off x="1308847" y="1864659"/>
            <a:ext cx="10291482" cy="4379259"/>
          </a:xfrm>
        </p:spPr>
        <p:txBody>
          <a:bodyPr/>
          <a:lstStyle/>
          <a:p>
            <a:pPr marL="0" indent="0" algn="just">
              <a:buNone/>
            </a:pPr>
            <a:r>
              <a:rPr lang="es-MX" dirty="0">
                <a:latin typeface="Arial" panose="020B0604020202020204" pitchFamily="34" charset="0"/>
                <a:cs typeface="Arial" panose="020B0604020202020204" pitchFamily="34" charset="0"/>
              </a:rPr>
              <a:t>El estudio de la arquitectura e instalación de un SGBD es importante porque las bases de datos son utilizadas en casi todos los sistemas actuales, como páginas web, aplicaciones móviles, bancos, escuelas, hospitales y empresas. Para que una base de datos funcione correctamente, no basta con crear tablas o insertar información, también es necesario conocer cómo se administra la memoria, cómo se guardan los archivos, qué requisitos necesita el sistema y cómo se configura después de la instalación. Este tema permite entender mejor el trabajo de un administrador de bases de datos y ayuda a evitar errores durante la instalación, configuración y mantenimiento del SGBD.</a:t>
            </a:r>
          </a:p>
        </p:txBody>
      </p:sp>
    </p:spTree>
    <p:extLst>
      <p:ext uri="{BB962C8B-B14F-4D97-AF65-F5344CB8AC3E}">
        <p14:creationId xmlns:p14="http://schemas.microsoft.com/office/powerpoint/2010/main" val="307143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9343D9-39CA-4988-BB19-4FFE98E2D84A}"/>
              </a:ext>
            </a:extLst>
          </p:cNvPr>
          <p:cNvSpPr>
            <a:spLocks noGrp="1"/>
          </p:cNvSpPr>
          <p:nvPr>
            <p:ph type="title"/>
          </p:nvPr>
        </p:nvSpPr>
        <p:spPr>
          <a:xfrm>
            <a:off x="1299882" y="363071"/>
            <a:ext cx="10121153" cy="1295400"/>
          </a:xfrm>
        </p:spPr>
        <p:txBody>
          <a:bodyPr>
            <a:normAutofit fontScale="90000"/>
          </a:bodyPr>
          <a:lstStyle/>
          <a:p>
            <a:pPr algn="ctr"/>
            <a:r>
              <a:rPr lang="es-MX" sz="4000" b="1" dirty="0">
                <a:latin typeface="Arial" panose="020B0604020202020204" pitchFamily="34" charset="0"/>
                <a:cs typeface="Arial" panose="020B0604020202020204" pitchFamily="34" charset="0"/>
              </a:rPr>
              <a:t>2.1 ESTRUCTURA DE MEMORIA Y PROCESOS DE LA INSTANCIA</a:t>
            </a:r>
            <a:br>
              <a:rPr lang="es-MX" sz="1000" b="1" dirty="0"/>
            </a:br>
            <a:br>
              <a:rPr lang="es-MX" sz="1000" b="1" dirty="0"/>
            </a:br>
            <a:br>
              <a:rPr lang="es-MX" sz="2000" b="1" dirty="0">
                <a:latin typeface="Arial" panose="020B0604020202020204" pitchFamily="34" charset="0"/>
                <a:cs typeface="Arial" panose="020B0604020202020204" pitchFamily="34" charset="0"/>
              </a:rPr>
            </a:br>
            <a:br>
              <a:rPr lang="es-MX" sz="1600" dirty="0">
                <a:latin typeface="Arial" panose="020B0604020202020204" pitchFamily="34" charset="0"/>
                <a:cs typeface="Arial" panose="020B0604020202020204" pitchFamily="34" charset="0"/>
              </a:rPr>
            </a:br>
            <a:br>
              <a:rPr lang="es-MX" sz="1600" dirty="0">
                <a:latin typeface="Arial" panose="020B0604020202020204" pitchFamily="34" charset="0"/>
                <a:cs typeface="Arial" panose="020B0604020202020204" pitchFamily="34" charset="0"/>
              </a:rPr>
            </a:br>
            <a:endParaRPr lang="es-MX" sz="2000" dirty="0">
              <a:latin typeface="Arial" panose="020B06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id="{6A5AB2BC-4A26-499C-99D2-1D0C28E12B2B}"/>
              </a:ext>
            </a:extLst>
          </p:cNvPr>
          <p:cNvSpPr txBox="1"/>
          <p:nvPr/>
        </p:nvSpPr>
        <p:spPr>
          <a:xfrm>
            <a:off x="1468582" y="2036617"/>
            <a:ext cx="10121153" cy="4308872"/>
          </a:xfrm>
          <a:prstGeom prst="rect">
            <a:avLst/>
          </a:prstGeom>
          <a:noFill/>
        </p:spPr>
        <p:txBody>
          <a:bodyPr wrap="square" rtlCol="0">
            <a:spAutoFit/>
          </a:bodyPr>
          <a:lstStyle/>
          <a:p>
            <a:r>
              <a:rPr lang="es-MX" sz="1600" dirty="0">
                <a:latin typeface="Arial" panose="020B0604020202020204" pitchFamily="34" charset="0"/>
                <a:cs typeface="Arial" panose="020B0604020202020204" pitchFamily="34" charset="0"/>
              </a:rPr>
              <a:t>La instancia de un SGBD está formada por la memoria y los procesos que se activan cuando el sistema gestor comienza a funcionar. La memoria se utiliza para guardar temporalmente datos, consultas, transacciones y operaciones internas. Los procesos se encargan de realizar tareas como leer datos, escribir información en disco, controlar usuarios y recuperar información en caso de fallas.</a:t>
            </a:r>
          </a:p>
          <a:p>
            <a:endParaRPr lang="es-MX" sz="1600" dirty="0">
              <a:latin typeface="Arial" panose="020B0604020202020204" pitchFamily="34" charset="0"/>
              <a:cs typeface="Arial" panose="020B0604020202020204" pitchFamily="34" charset="0"/>
            </a:endParaRPr>
          </a:p>
          <a:p>
            <a:r>
              <a:rPr lang="es-MX" sz="1600" dirty="0">
                <a:latin typeface="Arial" panose="020B0604020202020204" pitchFamily="34" charset="0"/>
                <a:cs typeface="Arial" panose="020B0604020202020204" pitchFamily="34" charset="0"/>
              </a:rPr>
              <a:t>Elementos principales</a:t>
            </a:r>
          </a:p>
          <a:p>
            <a:r>
              <a:rPr lang="es-MX" sz="1600" dirty="0">
                <a:latin typeface="Arial" panose="020B0604020202020204" pitchFamily="34" charset="0"/>
                <a:cs typeface="Arial" panose="020B0604020202020204" pitchFamily="34" charset="0"/>
              </a:rPr>
              <a:t>Memoria compartida:</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Es el espacio donde se almacenan datos usados por varios procesos del SGBD.</a:t>
            </a:r>
          </a:p>
          <a:p>
            <a:r>
              <a:rPr lang="es-MX" sz="1600" dirty="0">
                <a:latin typeface="Arial" panose="020B0604020202020204" pitchFamily="34" charset="0"/>
                <a:cs typeface="Arial" panose="020B0604020202020204" pitchFamily="34" charset="0"/>
              </a:rPr>
              <a:t>Caché de datos:</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Guarda información consultada recientemente para responder más rápido.</a:t>
            </a:r>
          </a:p>
          <a:p>
            <a:r>
              <a:rPr lang="es-MX" sz="1600" dirty="0">
                <a:latin typeface="Arial" panose="020B0604020202020204" pitchFamily="34" charset="0"/>
                <a:cs typeface="Arial" panose="020B0604020202020204" pitchFamily="34" charset="0"/>
              </a:rPr>
              <a:t>Área de consultas:</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Almacena instrucciones SQL y resultados temporales.</a:t>
            </a:r>
          </a:p>
          <a:p>
            <a:r>
              <a:rPr lang="es-MX" sz="1600" dirty="0">
                <a:latin typeface="Arial" panose="020B0604020202020204" pitchFamily="34" charset="0"/>
                <a:cs typeface="Arial" panose="020B0604020202020204" pitchFamily="34" charset="0"/>
              </a:rPr>
              <a:t>Procesos de escritura:</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Se encargan de pasar los datos desde la memoria hacia los archivos físicos.</a:t>
            </a:r>
          </a:p>
          <a:p>
            <a:r>
              <a:rPr lang="es-MX" sz="1600" dirty="0">
                <a:latin typeface="Arial" panose="020B0604020202020204" pitchFamily="34" charset="0"/>
                <a:cs typeface="Arial" panose="020B0604020202020204" pitchFamily="34" charset="0"/>
              </a:rPr>
              <a:t>Procesos de recuperación:</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Ayudan a restaurar la base de datos si ocurre un error o apagado inesperado.</a:t>
            </a:r>
          </a:p>
          <a:p>
            <a:endParaRPr lang="es-MX" dirty="0"/>
          </a:p>
        </p:txBody>
      </p:sp>
    </p:spTree>
    <p:extLst>
      <p:ext uri="{BB962C8B-B14F-4D97-AF65-F5344CB8AC3E}">
        <p14:creationId xmlns:p14="http://schemas.microsoft.com/office/powerpoint/2010/main" val="480949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478EDA-6487-4179-87E8-49AB21219F46}"/>
              </a:ext>
            </a:extLst>
          </p:cNvPr>
          <p:cNvSpPr>
            <a:spLocks noGrp="1"/>
          </p:cNvSpPr>
          <p:nvPr>
            <p:ph type="title"/>
          </p:nvPr>
        </p:nvSpPr>
        <p:spPr>
          <a:xfrm>
            <a:off x="529936" y="155864"/>
            <a:ext cx="11897592" cy="1485900"/>
          </a:xfrm>
        </p:spPr>
        <p:txBody>
          <a:bodyPr>
            <a:normAutofit/>
          </a:bodyPr>
          <a:lstStyle/>
          <a:p>
            <a:pPr algn="ctr"/>
            <a:br>
              <a:rPr lang="es-MX" sz="1800" b="1" dirty="0">
                <a:latin typeface="Arial" panose="020B0604020202020204" pitchFamily="34" charset="0"/>
                <a:cs typeface="Arial" panose="020B0604020202020204" pitchFamily="34" charset="0"/>
              </a:rPr>
            </a:br>
            <a:r>
              <a:rPr lang="es-MX" sz="3600" b="1" dirty="0">
                <a:latin typeface="Arial" panose="020B0604020202020204" pitchFamily="34" charset="0"/>
                <a:cs typeface="Arial" panose="020B0604020202020204" pitchFamily="34" charset="0"/>
              </a:rPr>
              <a:t>2.2 ESTRUCTURA FÍSICA DE LA BASE DE DATOS</a:t>
            </a:r>
          </a:p>
        </p:txBody>
      </p:sp>
      <p:sp>
        <p:nvSpPr>
          <p:cNvPr id="6" name="CuadroTexto 5">
            <a:extLst>
              <a:ext uri="{FF2B5EF4-FFF2-40B4-BE49-F238E27FC236}">
                <a16:creationId xmlns:a16="http://schemas.microsoft.com/office/drawing/2014/main" id="{AFA3C303-1DC6-4773-96E6-EAD9C3A04FE7}"/>
              </a:ext>
            </a:extLst>
          </p:cNvPr>
          <p:cNvSpPr txBox="1"/>
          <p:nvPr/>
        </p:nvSpPr>
        <p:spPr>
          <a:xfrm>
            <a:off x="1070264" y="1641764"/>
            <a:ext cx="10764981" cy="3816429"/>
          </a:xfrm>
          <a:prstGeom prst="rect">
            <a:avLst/>
          </a:prstGeom>
          <a:noFill/>
        </p:spPr>
        <p:txBody>
          <a:bodyPr wrap="square" rtlCol="0">
            <a:spAutoFit/>
          </a:bodyPr>
          <a:lstStyle/>
          <a:p>
            <a:pPr algn="just"/>
            <a:r>
              <a:rPr lang="es-MX" sz="1600" dirty="0">
                <a:latin typeface="Arial" panose="020B0604020202020204" pitchFamily="34" charset="0"/>
                <a:cs typeface="Arial" panose="020B0604020202020204" pitchFamily="34" charset="0"/>
              </a:rPr>
              <a:t>La estructura física de la base de datos está formada por todos los archivos reales que se almacenan en el disco duro o servidor. Estos archivos contienen la información de las tablas, índices, registros, configuraciones, logs y respaldos. Es decir, mientras la estructura lógica se refiere a cómo el usuario ve la base de datos, la estructura física representa cómo esa información se guarda realmente en el sistema.</a:t>
            </a:r>
          </a:p>
          <a:p>
            <a:pPr algn="just"/>
            <a:r>
              <a:rPr lang="es-MX" sz="1600" dirty="0">
                <a:latin typeface="Arial" panose="020B0604020202020204" pitchFamily="34" charset="0"/>
                <a:cs typeface="Arial" panose="020B0604020202020204" pitchFamily="34" charset="0"/>
              </a:rPr>
              <a:t>Entre los archivos más importantes se encuentran los archivos de datos, que almacenan la información principal de la base de datos. También están los archivos de control, que guardan datos sobre la organización y el estado de la base. Además, existen archivos de registro o logs, los cuales registran las operaciones realizadas, como inserciones, modificaciones o eliminaciones. Estos archivos son muy importantes porque permiten recuperar información en caso de fallas.</a:t>
            </a:r>
          </a:p>
          <a:p>
            <a:pPr algn="just"/>
            <a:r>
              <a:rPr lang="es-MX" sz="1600" dirty="0">
                <a:latin typeface="Arial" panose="020B0604020202020204" pitchFamily="34" charset="0"/>
                <a:cs typeface="Arial" panose="020B0604020202020204" pitchFamily="34" charset="0"/>
              </a:rPr>
              <a:t>Una ventaja de la estructura física es que permite almacenar la información de manera organizada y segura. También facilita la recuperación de datos cuando ocurre algún problema. Otra ventaja es que permite realizar respaldos para proteger la información. Sin embargo, también tiene desventajas, ya que puede ocupar bastante espacio en disco, requiere mantenimiento y si alguno de los archivos importantes se daña, la base de datos puede presentar errores o incluso dejar de funcionar correctamente.</a:t>
            </a:r>
          </a:p>
          <a:p>
            <a:endParaRPr lang="es-MX" dirty="0"/>
          </a:p>
        </p:txBody>
      </p:sp>
    </p:spTree>
    <p:extLst>
      <p:ext uri="{BB962C8B-B14F-4D97-AF65-F5344CB8AC3E}">
        <p14:creationId xmlns:p14="http://schemas.microsoft.com/office/powerpoint/2010/main" val="60649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84D60F-C583-4A24-A82A-F06EB7B7A30E}"/>
              </a:ext>
            </a:extLst>
          </p:cNvPr>
          <p:cNvSpPr>
            <a:spLocks noGrp="1"/>
          </p:cNvSpPr>
          <p:nvPr>
            <p:ph type="title"/>
          </p:nvPr>
        </p:nvSpPr>
        <p:spPr>
          <a:xfrm>
            <a:off x="1288472" y="247650"/>
            <a:ext cx="10681855" cy="1485900"/>
          </a:xfrm>
        </p:spPr>
        <p:txBody>
          <a:bodyPr>
            <a:normAutofit/>
          </a:bodyPr>
          <a:lstStyle/>
          <a:p>
            <a:pPr algn="ctr"/>
            <a:r>
              <a:rPr lang="es-MX" sz="3600" b="1" dirty="0">
                <a:latin typeface="Arial" panose="020B0604020202020204" pitchFamily="34" charset="0"/>
                <a:cs typeface="Arial" panose="020B0604020202020204" pitchFamily="34" charset="0"/>
              </a:rPr>
              <a:t>2.3 REQUERIMIENTOS PARA INSTALACIÓN</a:t>
            </a:r>
          </a:p>
        </p:txBody>
      </p:sp>
      <p:sp>
        <p:nvSpPr>
          <p:cNvPr id="3" name="Marcador de contenido 2">
            <a:extLst>
              <a:ext uri="{FF2B5EF4-FFF2-40B4-BE49-F238E27FC236}">
                <a16:creationId xmlns:a16="http://schemas.microsoft.com/office/drawing/2014/main" id="{B89D4CC4-8780-4C71-A82D-74E8A01554C4}"/>
              </a:ext>
            </a:extLst>
          </p:cNvPr>
          <p:cNvSpPr>
            <a:spLocks noGrp="1"/>
          </p:cNvSpPr>
          <p:nvPr>
            <p:ph idx="1"/>
          </p:nvPr>
        </p:nvSpPr>
        <p:spPr>
          <a:xfrm>
            <a:off x="924790" y="1558636"/>
            <a:ext cx="11045537" cy="4156364"/>
          </a:xfrm>
        </p:spPr>
        <p:txBody>
          <a:bodyPr>
            <a:normAutofit fontScale="77500" lnSpcReduction="20000"/>
          </a:bodyPr>
          <a:lstStyle/>
          <a:p>
            <a:pPr marL="0" indent="0" algn="just">
              <a:buNone/>
            </a:pPr>
            <a:r>
              <a:rPr lang="es-MX" sz="2300" dirty="0">
                <a:latin typeface="Arial" panose="020B0604020202020204" pitchFamily="34" charset="0"/>
                <a:cs typeface="Arial" panose="020B0604020202020204" pitchFamily="34" charset="0"/>
              </a:rPr>
              <a:t>Antes de instalar un SGBD, es necesario revisar que el equipo o servidor cumpla con ciertos requisitos. Estos requerimientos pueden ser de hardware y de software. Los requerimientos de hardware incluyen el procesador, la memoria RAM, el espacio en disco y la conexión de red. Estos elementos son importantes porque influyen directamente en el rendimiento de la base de datos.</a:t>
            </a:r>
          </a:p>
          <a:p>
            <a:pPr marL="0" indent="0" algn="just">
              <a:buNone/>
            </a:pPr>
            <a:r>
              <a:rPr lang="es-MX" sz="2300" dirty="0">
                <a:latin typeface="Arial" panose="020B0604020202020204" pitchFamily="34" charset="0"/>
                <a:cs typeface="Arial" panose="020B0604020202020204" pitchFamily="34" charset="0"/>
              </a:rPr>
              <a:t>Por ejemplo, si se instala un SGBD en una computadora con poca memoria RAM, puede funcionar lento cuando varios usuarios se conecten al mismo tiempo. Si el disco duro tiene poco espacio, puede haber problemas al guardar datos, logs o respaldos. De igual manera, si la base de datos será utilizada por varias aplicaciones o usuarios, se necesita una conexión de red estable.</a:t>
            </a:r>
          </a:p>
          <a:p>
            <a:pPr marL="0" indent="0" algn="just">
              <a:buNone/>
            </a:pPr>
            <a:r>
              <a:rPr lang="es-MX" sz="2300" dirty="0">
                <a:latin typeface="Arial" panose="020B0604020202020204" pitchFamily="34" charset="0"/>
                <a:cs typeface="Arial" panose="020B0604020202020204" pitchFamily="34" charset="0"/>
              </a:rPr>
              <a:t>En cuanto al software, se necesita un sistema operativo compatible, permisos de administrador y, en algunos casos, dependencias adicionales. Por ejemplo, algunos sistemas requieren librerías específicas o configuraciones previas. También es recomendable descargar el instalador desde la página oficial del SGBD para evitar versiones dañadas o inseguras.</a:t>
            </a:r>
          </a:p>
          <a:p>
            <a:pPr marL="0" indent="0" algn="just">
              <a:buNone/>
            </a:pPr>
            <a:r>
              <a:rPr lang="es-MX" sz="2300" dirty="0">
                <a:latin typeface="Arial" panose="020B0604020202020204" pitchFamily="34" charset="0"/>
                <a:cs typeface="Arial" panose="020B0604020202020204" pitchFamily="34" charset="0"/>
              </a:rPr>
              <a:t>En resumen, revisar los requerimientos antes de la instalación ayuda a evitar errores durante el proceso y permite que el SGBD funcione correctamente desde el inicio.</a:t>
            </a:r>
          </a:p>
          <a:p>
            <a:endParaRPr lang="es-MX" dirty="0"/>
          </a:p>
        </p:txBody>
      </p:sp>
    </p:spTree>
    <p:extLst>
      <p:ext uri="{BB962C8B-B14F-4D97-AF65-F5344CB8AC3E}">
        <p14:creationId xmlns:p14="http://schemas.microsoft.com/office/powerpoint/2010/main" val="1806741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739F26-937B-4313-A51D-13F05AD26B8D}"/>
              </a:ext>
            </a:extLst>
          </p:cNvPr>
          <p:cNvSpPr>
            <a:spLocks noGrp="1"/>
          </p:cNvSpPr>
          <p:nvPr>
            <p:ph type="title"/>
          </p:nvPr>
        </p:nvSpPr>
        <p:spPr>
          <a:xfrm>
            <a:off x="332509" y="247650"/>
            <a:ext cx="12209317" cy="1485900"/>
          </a:xfrm>
        </p:spPr>
        <p:txBody>
          <a:bodyPr>
            <a:normAutofit/>
          </a:bodyPr>
          <a:lstStyle/>
          <a:p>
            <a:pPr algn="ctr"/>
            <a:r>
              <a:rPr lang="es-MX" sz="3600" b="1" dirty="0">
                <a:latin typeface="Arial" panose="020B0604020202020204" pitchFamily="34" charset="0"/>
                <a:cs typeface="Arial" panose="020B0604020202020204" pitchFamily="34" charset="0"/>
              </a:rPr>
              <a:t>2.4 INSTALACIÓN DEL SGBD EN MODO TRANSACCIONAL</a:t>
            </a:r>
          </a:p>
        </p:txBody>
      </p:sp>
      <p:sp>
        <p:nvSpPr>
          <p:cNvPr id="3" name="Marcador de contenido 2">
            <a:extLst>
              <a:ext uri="{FF2B5EF4-FFF2-40B4-BE49-F238E27FC236}">
                <a16:creationId xmlns:a16="http://schemas.microsoft.com/office/drawing/2014/main" id="{FD030566-7789-4303-8299-14D2C5E28534}"/>
              </a:ext>
            </a:extLst>
          </p:cNvPr>
          <p:cNvSpPr>
            <a:spLocks noGrp="1"/>
          </p:cNvSpPr>
          <p:nvPr>
            <p:ph idx="1"/>
          </p:nvPr>
        </p:nvSpPr>
        <p:spPr>
          <a:xfrm>
            <a:off x="2223656" y="1733550"/>
            <a:ext cx="8801100" cy="4781550"/>
          </a:xfrm>
        </p:spPr>
        <p:txBody>
          <a:bodyPr>
            <a:noAutofit/>
          </a:bodyPr>
          <a:lstStyle/>
          <a:p>
            <a:pPr marL="0" indent="0">
              <a:buNone/>
            </a:pPr>
            <a:r>
              <a:rPr lang="es-MX" sz="1600" dirty="0">
                <a:latin typeface="Arial" panose="020B0604020202020204" pitchFamily="34" charset="0"/>
                <a:cs typeface="Arial" panose="020B0604020202020204" pitchFamily="34" charset="0"/>
              </a:rPr>
              <a:t>Instalar o utilizar un SGBD en modo transaccional significa que el sistema será capaz de manejar operaciones seguras mediante transacciones. Una transacción es un conjunto de instrucciones que deben ejecutarse correctamente de principio a fin. Si ocurre un error, los cambios pueden cancelarse para evitar datos incorrectos.</a:t>
            </a:r>
          </a:p>
          <a:p>
            <a:pPr marL="0" indent="0">
              <a:buNone/>
            </a:pPr>
            <a:r>
              <a:rPr lang="es-MX" sz="1600" dirty="0">
                <a:latin typeface="Arial" panose="020B0604020202020204" pitchFamily="34" charset="0"/>
                <a:cs typeface="Arial" panose="020B0604020202020204" pitchFamily="34" charset="0"/>
              </a:rPr>
              <a:t>Atomicidad:</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Todas las operaciones se realizan completas o no se realiza ninguna.</a:t>
            </a:r>
          </a:p>
          <a:p>
            <a:pPr marL="0" indent="0">
              <a:buNone/>
            </a:pPr>
            <a:r>
              <a:rPr lang="es-MX" sz="1600" dirty="0">
                <a:latin typeface="Arial" panose="020B0604020202020204" pitchFamily="34" charset="0"/>
                <a:cs typeface="Arial" panose="020B0604020202020204" pitchFamily="34" charset="0"/>
              </a:rPr>
              <a:t>Consistencia:</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La base de datos mantiene sus reglas y restricciones.</a:t>
            </a:r>
          </a:p>
          <a:p>
            <a:pPr marL="0" indent="0">
              <a:buNone/>
            </a:pPr>
            <a:r>
              <a:rPr lang="es-MX" sz="1600" dirty="0">
                <a:latin typeface="Arial" panose="020B0604020202020204" pitchFamily="34" charset="0"/>
                <a:cs typeface="Arial" panose="020B0604020202020204" pitchFamily="34" charset="0"/>
              </a:rPr>
              <a:t>Aislamiento:</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Una transacción no debe afectar incorrectamente a otra.</a:t>
            </a:r>
          </a:p>
          <a:p>
            <a:pPr marL="0" indent="0">
              <a:buNone/>
            </a:pPr>
            <a:r>
              <a:rPr lang="es-MX" sz="1600" dirty="0">
                <a:latin typeface="Arial" panose="020B0604020202020204" pitchFamily="34" charset="0"/>
                <a:cs typeface="Arial" panose="020B0604020202020204" pitchFamily="34" charset="0"/>
              </a:rPr>
              <a:t>Durabilidad:</a:t>
            </a:r>
            <a:br>
              <a:rPr lang="es-MX" sz="1600" dirty="0">
                <a:latin typeface="Arial" panose="020B0604020202020204" pitchFamily="34" charset="0"/>
                <a:cs typeface="Arial" panose="020B0604020202020204" pitchFamily="34" charset="0"/>
              </a:rPr>
            </a:br>
            <a:r>
              <a:rPr lang="es-MX" sz="1600" dirty="0">
                <a:latin typeface="Arial" panose="020B0604020202020204" pitchFamily="34" charset="0"/>
                <a:cs typeface="Arial" panose="020B0604020202020204" pitchFamily="34" charset="0"/>
              </a:rPr>
              <a:t>Cuando una transacción se confirma, los cambios quedan guardados.</a:t>
            </a:r>
          </a:p>
          <a:p>
            <a:pPr marL="0" indent="0">
              <a:buNone/>
            </a:pPr>
            <a:endParaRPr lang="es-MX" sz="1600" dirty="0"/>
          </a:p>
        </p:txBody>
      </p:sp>
    </p:spTree>
    <p:extLst>
      <p:ext uri="{BB962C8B-B14F-4D97-AF65-F5344CB8AC3E}">
        <p14:creationId xmlns:p14="http://schemas.microsoft.com/office/powerpoint/2010/main" val="729926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6AE563-8A45-4075-BEAC-F274A76AEA30}"/>
              </a:ext>
            </a:extLst>
          </p:cNvPr>
          <p:cNvSpPr>
            <a:spLocks noGrp="1"/>
          </p:cNvSpPr>
          <p:nvPr>
            <p:ph type="title"/>
          </p:nvPr>
        </p:nvSpPr>
        <p:spPr>
          <a:xfrm>
            <a:off x="758538" y="247650"/>
            <a:ext cx="11648208" cy="1485900"/>
          </a:xfrm>
        </p:spPr>
        <p:txBody>
          <a:bodyPr>
            <a:normAutofit/>
          </a:bodyPr>
          <a:lstStyle/>
          <a:p>
            <a:pPr algn="ctr"/>
            <a:r>
              <a:rPr lang="es-MX" sz="3600" b="1" dirty="0">
                <a:latin typeface="Arial" panose="020B0604020202020204" pitchFamily="34" charset="0"/>
                <a:cs typeface="Arial" panose="020B0604020202020204" pitchFamily="34" charset="0"/>
              </a:rPr>
              <a:t>2.5 VARIABLES DE AMBIENTE Y ARCHIVOS IMPORTANTES PARA INSTALACIÓN</a:t>
            </a:r>
          </a:p>
        </p:txBody>
      </p:sp>
      <p:sp>
        <p:nvSpPr>
          <p:cNvPr id="3" name="Marcador de contenido 2">
            <a:extLst>
              <a:ext uri="{FF2B5EF4-FFF2-40B4-BE49-F238E27FC236}">
                <a16:creationId xmlns:a16="http://schemas.microsoft.com/office/drawing/2014/main" id="{9B678598-B9FD-45F0-BC4E-E956F1022665}"/>
              </a:ext>
            </a:extLst>
          </p:cNvPr>
          <p:cNvSpPr>
            <a:spLocks noGrp="1"/>
          </p:cNvSpPr>
          <p:nvPr>
            <p:ph idx="1"/>
          </p:nvPr>
        </p:nvSpPr>
        <p:spPr>
          <a:xfrm>
            <a:off x="1371599" y="2286000"/>
            <a:ext cx="10640291" cy="3581400"/>
          </a:xfrm>
        </p:spPr>
        <p:txBody>
          <a:bodyPr>
            <a:normAutofit fontScale="92500" lnSpcReduction="20000"/>
          </a:bodyPr>
          <a:lstStyle/>
          <a:p>
            <a:pPr marL="0" indent="0" algn="just">
              <a:buNone/>
            </a:pPr>
            <a:r>
              <a:rPr lang="es-MX" dirty="0">
                <a:latin typeface="Arial" panose="020B0604020202020204" pitchFamily="34" charset="0"/>
                <a:cs typeface="Arial" panose="020B0604020202020204" pitchFamily="34" charset="0"/>
              </a:rPr>
              <a:t>Las variables de ambiente son configuraciones del sistema operativo que indican rutas o valores importantes para que el </a:t>
            </a:r>
            <a:r>
              <a:rPr lang="es-MX" dirty="0" err="1">
                <a:latin typeface="Arial" panose="020B0604020202020204" pitchFamily="34" charset="0"/>
                <a:cs typeface="Arial" panose="020B0604020202020204" pitchFamily="34" charset="0"/>
              </a:rPr>
              <a:t>sgbd</a:t>
            </a:r>
            <a:r>
              <a:rPr lang="es-MX" dirty="0">
                <a:latin typeface="Arial" panose="020B0604020202020204" pitchFamily="34" charset="0"/>
                <a:cs typeface="Arial" panose="020B0604020202020204" pitchFamily="34" charset="0"/>
              </a:rPr>
              <a:t> pueda funcionar correctamente. estas variables permiten que el sistema encuentre los programas, comandos, carpetas y archivos necesarios para ejecutar el gestor de base de datos.</a:t>
            </a:r>
          </a:p>
          <a:p>
            <a:pPr marL="0" indent="0" algn="just">
              <a:buNone/>
            </a:pPr>
            <a:r>
              <a:rPr lang="es-MX" dirty="0">
                <a:latin typeface="Arial" panose="020B0604020202020204" pitchFamily="34" charset="0"/>
                <a:cs typeface="Arial" panose="020B0604020202020204" pitchFamily="34" charset="0"/>
              </a:rPr>
              <a:t>una de las variables más comunes es </a:t>
            </a:r>
            <a:r>
              <a:rPr lang="es-MX" dirty="0" err="1">
                <a:latin typeface="Arial" panose="020B0604020202020204" pitchFamily="34" charset="0"/>
                <a:cs typeface="Arial" panose="020B0604020202020204" pitchFamily="34" charset="0"/>
              </a:rPr>
              <a:t>path</a:t>
            </a:r>
            <a:r>
              <a:rPr lang="es-MX" dirty="0">
                <a:latin typeface="Arial" panose="020B0604020202020204" pitchFamily="34" charset="0"/>
                <a:cs typeface="Arial" panose="020B0604020202020204" pitchFamily="34" charset="0"/>
              </a:rPr>
              <a:t>, la cual permite ejecutar comandos desde la terminal sin tener que escribir toda la ruta del programa. en </a:t>
            </a:r>
            <a:r>
              <a:rPr lang="es-MX" dirty="0" err="1">
                <a:latin typeface="Arial" panose="020B0604020202020204" pitchFamily="34" charset="0"/>
                <a:cs typeface="Arial" panose="020B0604020202020204" pitchFamily="34" charset="0"/>
              </a:rPr>
              <a:t>oracle</a:t>
            </a:r>
            <a:r>
              <a:rPr lang="es-MX" dirty="0">
                <a:latin typeface="Arial" panose="020B0604020202020204" pitchFamily="34" charset="0"/>
                <a:cs typeface="Arial" panose="020B0604020202020204" pitchFamily="34" charset="0"/>
              </a:rPr>
              <a:t> se utiliza </a:t>
            </a:r>
            <a:r>
              <a:rPr lang="es-MX" dirty="0" err="1">
                <a:latin typeface="Arial" panose="020B0604020202020204" pitchFamily="34" charset="0"/>
                <a:cs typeface="Arial" panose="020B0604020202020204" pitchFamily="34" charset="0"/>
              </a:rPr>
              <a:t>oracle_home</a:t>
            </a:r>
            <a:r>
              <a:rPr lang="es-MX" dirty="0">
                <a:latin typeface="Arial" panose="020B0604020202020204" pitchFamily="34" charset="0"/>
                <a:cs typeface="Arial" panose="020B0604020202020204" pitchFamily="34" charset="0"/>
              </a:rPr>
              <a:t> para indicar la carpeta donde está instalado el sistema. en </a:t>
            </a:r>
            <a:r>
              <a:rPr lang="es-MX" dirty="0" err="1">
                <a:latin typeface="Arial" panose="020B0604020202020204" pitchFamily="34" charset="0"/>
                <a:cs typeface="Arial" panose="020B0604020202020204" pitchFamily="34" charset="0"/>
              </a:rPr>
              <a:t>postgresql</a:t>
            </a:r>
            <a:r>
              <a:rPr lang="es-MX" dirty="0">
                <a:latin typeface="Arial" panose="020B0604020202020204" pitchFamily="34" charset="0"/>
                <a:cs typeface="Arial" panose="020B0604020202020204" pitchFamily="34" charset="0"/>
              </a:rPr>
              <a:t> puede utilizarse </a:t>
            </a:r>
            <a:r>
              <a:rPr lang="es-MX" dirty="0" err="1">
                <a:latin typeface="Arial" panose="020B0604020202020204" pitchFamily="34" charset="0"/>
                <a:cs typeface="Arial" panose="020B0604020202020204" pitchFamily="34" charset="0"/>
              </a:rPr>
              <a:t>pgdata</a:t>
            </a:r>
            <a:r>
              <a:rPr lang="es-MX" dirty="0">
                <a:latin typeface="Arial" panose="020B0604020202020204" pitchFamily="34" charset="0"/>
                <a:cs typeface="Arial" panose="020B0604020202020204" pitchFamily="34" charset="0"/>
              </a:rPr>
              <a:t> para señalar la ubicación donde se almacenan los datos. estas variables son importantes porque ayudan a que el </a:t>
            </a:r>
            <a:r>
              <a:rPr lang="es-MX" dirty="0" err="1">
                <a:latin typeface="Arial" panose="020B0604020202020204" pitchFamily="34" charset="0"/>
                <a:cs typeface="Arial" panose="020B0604020202020204" pitchFamily="34" charset="0"/>
              </a:rPr>
              <a:t>sgbd</a:t>
            </a:r>
            <a:r>
              <a:rPr lang="es-MX" dirty="0">
                <a:latin typeface="Arial" panose="020B0604020202020204" pitchFamily="34" charset="0"/>
                <a:cs typeface="Arial" panose="020B0604020202020204" pitchFamily="34" charset="0"/>
              </a:rPr>
              <a:t> reconozca sus carpetas principales y pueda trabajar sin errores.</a:t>
            </a:r>
          </a:p>
          <a:p>
            <a:pPr marL="0" indent="0" algn="just">
              <a:buNone/>
            </a:pPr>
            <a:r>
              <a:rPr lang="es-MX" dirty="0">
                <a:latin typeface="Arial" panose="020B0604020202020204" pitchFamily="34" charset="0"/>
                <a:cs typeface="Arial" panose="020B0604020202020204" pitchFamily="34" charset="0"/>
              </a:rPr>
              <a:t>también existen archivos importantes durante la instalación y configuración. los archivos de configuración permiten modificar parámetros como puertos, memoria, conexiones y rutas. los archivos de datos almacenan la información real de la base de datos. los archivos de logs guardan errores, eventos y actividades del sistema. los archivos de respaldo permiten recuperar información si ocurre una pérdida de datos.</a:t>
            </a:r>
          </a:p>
          <a:p>
            <a:endParaRPr lang="es-MX" dirty="0"/>
          </a:p>
        </p:txBody>
      </p:sp>
    </p:spTree>
    <p:extLst>
      <p:ext uri="{BB962C8B-B14F-4D97-AF65-F5344CB8AC3E}">
        <p14:creationId xmlns:p14="http://schemas.microsoft.com/office/powerpoint/2010/main" val="3999713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A9E86-188B-4498-AFE7-F64538B54D1C}"/>
              </a:ext>
            </a:extLst>
          </p:cNvPr>
          <p:cNvSpPr>
            <a:spLocks noGrp="1"/>
          </p:cNvSpPr>
          <p:nvPr>
            <p:ph type="title"/>
          </p:nvPr>
        </p:nvSpPr>
        <p:spPr>
          <a:xfrm>
            <a:off x="623455" y="247650"/>
            <a:ext cx="11783290" cy="1485900"/>
          </a:xfrm>
        </p:spPr>
        <p:txBody>
          <a:bodyPr>
            <a:normAutofit/>
          </a:bodyPr>
          <a:lstStyle/>
          <a:p>
            <a:pPr algn="ctr"/>
            <a:r>
              <a:rPr lang="es-MX" sz="3600" b="1" dirty="0">
                <a:latin typeface="Arial" panose="020B0604020202020204" pitchFamily="34" charset="0"/>
                <a:cs typeface="Arial" panose="020B0604020202020204" pitchFamily="34" charset="0"/>
              </a:rPr>
              <a:t>2.6 PROCEDIMIENTO GENERAL DE INSTALACIÓN</a:t>
            </a:r>
          </a:p>
        </p:txBody>
      </p:sp>
      <p:sp>
        <p:nvSpPr>
          <p:cNvPr id="3" name="Marcador de contenido 2">
            <a:extLst>
              <a:ext uri="{FF2B5EF4-FFF2-40B4-BE49-F238E27FC236}">
                <a16:creationId xmlns:a16="http://schemas.microsoft.com/office/drawing/2014/main" id="{1EDBB3F6-BDC7-4B89-8187-2D78805FA856}"/>
              </a:ext>
            </a:extLst>
          </p:cNvPr>
          <p:cNvSpPr>
            <a:spLocks noGrp="1"/>
          </p:cNvSpPr>
          <p:nvPr>
            <p:ph idx="1"/>
          </p:nvPr>
        </p:nvSpPr>
        <p:spPr>
          <a:xfrm>
            <a:off x="831273" y="1733550"/>
            <a:ext cx="11128663" cy="4104409"/>
          </a:xfrm>
        </p:spPr>
        <p:txBody>
          <a:bodyPr>
            <a:normAutofit/>
          </a:bodyPr>
          <a:lstStyle/>
          <a:p>
            <a:pPr marL="0" indent="0" algn="just">
              <a:buNone/>
            </a:pPr>
            <a:r>
              <a:rPr lang="es-MX" dirty="0">
                <a:latin typeface="Arial" panose="020B0604020202020204" pitchFamily="34" charset="0"/>
                <a:cs typeface="Arial" panose="020B0604020202020204" pitchFamily="34" charset="0"/>
              </a:rPr>
              <a:t>El procedimiento general de instalación de un SGBD consiste en una serie de pasos que permiten preparar el sistema, instalar el software y comprobar que funcione correctamente. Aunque cada SGBD puede tener un proceso diferente, la mayoría sigue una estructura parecida.</a:t>
            </a:r>
          </a:p>
          <a:p>
            <a:pPr marL="0" indent="0" algn="just">
              <a:buNone/>
            </a:pPr>
            <a:r>
              <a:rPr lang="es-MX" dirty="0">
                <a:latin typeface="Arial" panose="020B0604020202020204" pitchFamily="34" charset="0"/>
                <a:cs typeface="Arial" panose="020B0604020202020204" pitchFamily="34" charset="0"/>
              </a:rPr>
              <a:t>Primero se deben revisar los requisitos del sistema, como memoria, procesador, espacio en disco y sistema operativo compatible. Después se descarga el instalador desde una fuente oficial o se instala desde los repositorios del sistema operativo. Luego se ejecuta la instalación siguiendo el asistente o utilizando comandos en la terminal.</a:t>
            </a:r>
          </a:p>
          <a:p>
            <a:pPr marL="0" indent="0" algn="just">
              <a:buNone/>
            </a:pPr>
            <a:r>
              <a:rPr lang="es-MX" dirty="0">
                <a:latin typeface="Arial" panose="020B0604020202020204" pitchFamily="34" charset="0"/>
                <a:cs typeface="Arial" panose="020B0604020202020204" pitchFamily="34" charset="0"/>
              </a:rPr>
              <a:t>Durante el proceso normalmente se define un usuario administrador, una contraseña y un puerto de conexión. Por ejemplo, MySQL suele usar el puerto 3306 y PostgreSQL el puerto 5432. Después de instalar, se crea una base de datos de prueba para verificar que todo funcione correctamente. Finalmente, se prueba la conexión desde la terminal o desde una herramienta gráfica como </a:t>
            </a:r>
            <a:r>
              <a:rPr lang="es-MX" dirty="0" err="1">
                <a:latin typeface="Arial" panose="020B0604020202020204" pitchFamily="34" charset="0"/>
                <a:cs typeface="Arial" panose="020B0604020202020204" pitchFamily="34" charset="0"/>
              </a:rPr>
              <a:t>DBeaver</a:t>
            </a:r>
            <a:r>
              <a:rPr lang="es-MX" dirty="0">
                <a:latin typeface="Arial" panose="020B0604020202020204" pitchFamily="34" charset="0"/>
                <a:cs typeface="Arial" panose="020B0604020202020204" pitchFamily="34" charset="0"/>
              </a:rPr>
              <a:t>, </a:t>
            </a:r>
            <a:r>
              <a:rPr lang="es-MX" dirty="0" err="1">
                <a:latin typeface="Arial" panose="020B0604020202020204" pitchFamily="34" charset="0"/>
                <a:cs typeface="Arial" panose="020B0604020202020204" pitchFamily="34" charset="0"/>
              </a:rPr>
              <a:t>pgAdmin</a:t>
            </a:r>
            <a:r>
              <a:rPr lang="es-MX" dirty="0">
                <a:latin typeface="Arial" panose="020B0604020202020204" pitchFamily="34" charset="0"/>
                <a:cs typeface="Arial" panose="020B0604020202020204" pitchFamily="34" charset="0"/>
              </a:rPr>
              <a:t> o MySQL </a:t>
            </a:r>
            <a:r>
              <a:rPr lang="es-MX" dirty="0" err="1">
                <a:latin typeface="Arial" panose="020B0604020202020204" pitchFamily="34" charset="0"/>
                <a:cs typeface="Arial" panose="020B0604020202020204" pitchFamily="34" charset="0"/>
              </a:rPr>
              <a:t>Workbench</a:t>
            </a:r>
            <a:r>
              <a:rPr lang="es-MX" dirty="0">
                <a:latin typeface="Arial" panose="020B0604020202020204" pitchFamily="34" charset="0"/>
                <a:cs typeface="Arial" panose="020B0604020202020204" pitchFamily="34" charset="0"/>
              </a:rPr>
              <a:t>.</a:t>
            </a:r>
          </a:p>
          <a:p>
            <a:endParaRPr lang="es-MX" dirty="0"/>
          </a:p>
        </p:txBody>
      </p:sp>
    </p:spTree>
    <p:extLst>
      <p:ext uri="{BB962C8B-B14F-4D97-AF65-F5344CB8AC3E}">
        <p14:creationId xmlns:p14="http://schemas.microsoft.com/office/powerpoint/2010/main" val="2325638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D2735D-E2D6-46E9-8C20-AAA2A217B87E}"/>
              </a:ext>
            </a:extLst>
          </p:cNvPr>
          <p:cNvSpPr>
            <a:spLocks noGrp="1"/>
          </p:cNvSpPr>
          <p:nvPr>
            <p:ph type="title"/>
          </p:nvPr>
        </p:nvSpPr>
        <p:spPr>
          <a:xfrm>
            <a:off x="1174173" y="247650"/>
            <a:ext cx="10889671" cy="1485900"/>
          </a:xfrm>
        </p:spPr>
        <p:txBody>
          <a:bodyPr>
            <a:normAutofit/>
          </a:bodyPr>
          <a:lstStyle/>
          <a:p>
            <a:pPr algn="ctr"/>
            <a:r>
              <a:rPr lang="es-MX" sz="3600" b="1" dirty="0">
                <a:latin typeface="Arial" panose="020B0604020202020204" pitchFamily="34" charset="0"/>
                <a:cs typeface="Arial" panose="020B0604020202020204" pitchFamily="34" charset="0"/>
              </a:rPr>
              <a:t>2.7 PROCEDIMIENTO PARA CONFIGURACIÓN DE UN SGBD</a:t>
            </a:r>
          </a:p>
        </p:txBody>
      </p:sp>
      <p:sp>
        <p:nvSpPr>
          <p:cNvPr id="3" name="Marcador de contenido 2">
            <a:extLst>
              <a:ext uri="{FF2B5EF4-FFF2-40B4-BE49-F238E27FC236}">
                <a16:creationId xmlns:a16="http://schemas.microsoft.com/office/drawing/2014/main" id="{0CFC1651-A874-4D67-ACB8-07E036943AE9}"/>
              </a:ext>
            </a:extLst>
          </p:cNvPr>
          <p:cNvSpPr>
            <a:spLocks noGrp="1"/>
          </p:cNvSpPr>
          <p:nvPr>
            <p:ph idx="1"/>
          </p:nvPr>
        </p:nvSpPr>
        <p:spPr>
          <a:xfrm>
            <a:off x="1174173" y="1953491"/>
            <a:ext cx="10692244" cy="3906982"/>
          </a:xfrm>
        </p:spPr>
        <p:txBody>
          <a:bodyPr>
            <a:normAutofit fontScale="85000" lnSpcReduction="10000"/>
          </a:bodyPr>
          <a:lstStyle/>
          <a:p>
            <a:pPr marL="0" indent="0" algn="just">
              <a:buNone/>
            </a:pPr>
            <a:r>
              <a:rPr lang="es-MX" sz="2100" dirty="0">
                <a:latin typeface="Arial" panose="020B0604020202020204" pitchFamily="34" charset="0"/>
                <a:cs typeface="Arial" panose="020B0604020202020204" pitchFamily="34" charset="0"/>
              </a:rPr>
              <a:t>Después de instalar un SGBD, es necesario configurarlo para que funcione de acuerdo con las necesidades del sistema. La configuración permite ajustar aspectos importantes como seguridad, usuarios, permisos, puertos, memoria, conexiones remotas y respaldos.</a:t>
            </a:r>
          </a:p>
          <a:p>
            <a:pPr marL="0" indent="0" algn="just">
              <a:buNone/>
            </a:pPr>
            <a:r>
              <a:rPr lang="es-MX" sz="2100" dirty="0">
                <a:latin typeface="Arial" panose="020B0604020202020204" pitchFamily="34" charset="0"/>
                <a:cs typeface="Arial" panose="020B0604020202020204" pitchFamily="34" charset="0"/>
              </a:rPr>
              <a:t>Uno de los primeros pasos es crear usuarios y asignarles permisos. No todos los usuarios deben tener acceso completo a la base de datos. Algunos solo necesitan consultar información, mientras que otros pueden insertar, actualizar o eliminar datos. Esto ayuda a proteger la información y evitar cambios no autorizados.</a:t>
            </a:r>
          </a:p>
          <a:p>
            <a:pPr marL="0" indent="0" algn="just">
              <a:buNone/>
            </a:pPr>
            <a:r>
              <a:rPr lang="es-MX" sz="2100" dirty="0">
                <a:latin typeface="Arial" panose="020B0604020202020204" pitchFamily="34" charset="0"/>
                <a:cs typeface="Arial" panose="020B0604020202020204" pitchFamily="34" charset="0"/>
              </a:rPr>
              <a:t>También se deben configurar los puertos de conexión para que las aplicaciones puedan comunicarse con la base de datos. En algunos casos se permite el acceso remoto, pero esto debe hacerse con cuidado para no dejar expuesto el sistema. Otro aspecto importante es la configuración de memoria, ya que permite mejorar el rendimiento de las consultas y procesos internos.</a:t>
            </a:r>
          </a:p>
          <a:p>
            <a:pPr marL="0" indent="0" algn="just">
              <a:buNone/>
            </a:pPr>
            <a:r>
              <a:rPr lang="es-MX" sz="2100" dirty="0">
                <a:latin typeface="Arial" panose="020B0604020202020204" pitchFamily="34" charset="0"/>
                <a:cs typeface="Arial" panose="020B0604020202020204" pitchFamily="34" charset="0"/>
              </a:rPr>
              <a:t>Una buena configuración tiene varias ventajas. Mejora la seguridad, aumenta el rendimiento, facilita la administración y ayuda a prevenir pérdida de información mediante respaldos. Por el contrario, una mala configuración puede provocar lentitud, errores de conexión o riesgos de seguridad</a:t>
            </a:r>
          </a:p>
          <a:p>
            <a:endParaRPr lang="es-MX" dirty="0"/>
          </a:p>
        </p:txBody>
      </p:sp>
    </p:spTree>
    <p:extLst>
      <p:ext uri="{BB962C8B-B14F-4D97-AF65-F5344CB8AC3E}">
        <p14:creationId xmlns:p14="http://schemas.microsoft.com/office/powerpoint/2010/main" val="2802483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325600-9028-4668-AEA8-5E99281E7686}"/>
              </a:ext>
            </a:extLst>
          </p:cNvPr>
          <p:cNvSpPr>
            <a:spLocks noGrp="1"/>
          </p:cNvSpPr>
          <p:nvPr>
            <p:ph type="title"/>
          </p:nvPr>
        </p:nvSpPr>
        <p:spPr>
          <a:xfrm>
            <a:off x="1070264" y="322118"/>
            <a:ext cx="10820400" cy="1485900"/>
          </a:xfrm>
        </p:spPr>
        <p:txBody>
          <a:bodyPr>
            <a:normAutofit/>
          </a:bodyPr>
          <a:lstStyle/>
          <a:p>
            <a:pPr algn="ctr"/>
            <a:r>
              <a:rPr lang="es-MX" sz="3600" b="1" dirty="0">
                <a:latin typeface="Arial" panose="020B0604020202020204" pitchFamily="34" charset="0"/>
                <a:cs typeface="Arial" panose="020B0604020202020204" pitchFamily="34" charset="0"/>
              </a:rPr>
              <a:t>2.8 Comandos generales de alta y baja del SGBD</a:t>
            </a:r>
          </a:p>
        </p:txBody>
      </p:sp>
      <p:sp>
        <p:nvSpPr>
          <p:cNvPr id="3" name="Marcador de contenido 2">
            <a:extLst>
              <a:ext uri="{FF2B5EF4-FFF2-40B4-BE49-F238E27FC236}">
                <a16:creationId xmlns:a16="http://schemas.microsoft.com/office/drawing/2014/main" id="{DF2BB730-0D3A-421F-9017-BADF26E92C23}"/>
              </a:ext>
            </a:extLst>
          </p:cNvPr>
          <p:cNvSpPr>
            <a:spLocks noGrp="1"/>
          </p:cNvSpPr>
          <p:nvPr>
            <p:ph idx="1"/>
          </p:nvPr>
        </p:nvSpPr>
        <p:spPr>
          <a:xfrm>
            <a:off x="1219200" y="1517073"/>
            <a:ext cx="10671464" cy="4457700"/>
          </a:xfrm>
        </p:spPr>
        <p:txBody>
          <a:bodyPr>
            <a:normAutofit lnSpcReduction="10000"/>
          </a:bodyPr>
          <a:lstStyle/>
          <a:p>
            <a:pPr marL="0" indent="0" algn="just">
              <a:buNone/>
            </a:pPr>
            <a:r>
              <a:rPr lang="es-MX" sz="1900" dirty="0">
                <a:latin typeface="Arial" panose="020B0604020202020204" pitchFamily="34" charset="0"/>
                <a:cs typeface="Arial" panose="020B0604020202020204" pitchFamily="34" charset="0"/>
              </a:rPr>
              <a:t>Los comandos generales de alta y baja del SGBD sirven para iniciar, detener, reiniciar o revisar el estado del servicio de base de datos. La alta significa activar el servicio para que la base de datos pueda funcionar. La baja significa detenerlo, normalmente cuando se necesita mantenimiento, configuración o solución de errores.</a:t>
            </a:r>
          </a:p>
          <a:p>
            <a:pPr marL="0" indent="0" algn="just">
              <a:buNone/>
            </a:pPr>
            <a:r>
              <a:rPr lang="es-MX" sz="1900" dirty="0">
                <a:latin typeface="Arial" panose="020B0604020202020204" pitchFamily="34" charset="0"/>
                <a:cs typeface="Arial" panose="020B0604020202020204" pitchFamily="34" charset="0"/>
              </a:rPr>
              <a:t>En Linux, muchos SGBD se administran con el comando </a:t>
            </a:r>
            <a:r>
              <a:rPr lang="es-MX" sz="1900" dirty="0" err="1">
                <a:latin typeface="Arial" panose="020B0604020202020204" pitchFamily="34" charset="0"/>
                <a:cs typeface="Arial" panose="020B0604020202020204" pitchFamily="34" charset="0"/>
              </a:rPr>
              <a:t>systemctl</a:t>
            </a:r>
            <a:r>
              <a:rPr lang="es-MX" sz="1900" dirty="0">
                <a:latin typeface="Arial" panose="020B0604020202020204" pitchFamily="34" charset="0"/>
                <a:cs typeface="Arial" panose="020B0604020202020204" pitchFamily="34" charset="0"/>
              </a:rPr>
              <a:t>. Por ejemplo, para iniciar PostgreSQL se puede usar el comando sudo </a:t>
            </a:r>
            <a:r>
              <a:rPr lang="es-MX" sz="1900" dirty="0" err="1">
                <a:latin typeface="Arial" panose="020B0604020202020204" pitchFamily="34" charset="0"/>
                <a:cs typeface="Arial" panose="020B0604020202020204" pitchFamily="34" charset="0"/>
              </a:rPr>
              <a:t>systemctl</a:t>
            </a:r>
            <a:r>
              <a:rPr lang="es-MX" sz="1900" dirty="0">
                <a:latin typeface="Arial" panose="020B0604020202020204" pitchFamily="34" charset="0"/>
                <a:cs typeface="Arial" panose="020B0604020202020204" pitchFamily="34" charset="0"/>
              </a:rPr>
              <a:t> </a:t>
            </a:r>
            <a:r>
              <a:rPr lang="es-MX" sz="1900" dirty="0" err="1">
                <a:latin typeface="Arial" panose="020B0604020202020204" pitchFamily="34" charset="0"/>
                <a:cs typeface="Arial" panose="020B0604020202020204" pitchFamily="34" charset="0"/>
              </a:rPr>
              <a:t>start</a:t>
            </a:r>
            <a:r>
              <a:rPr lang="es-MX" sz="1900" dirty="0">
                <a:latin typeface="Arial" panose="020B0604020202020204" pitchFamily="34" charset="0"/>
                <a:cs typeface="Arial" panose="020B0604020202020204" pitchFamily="34" charset="0"/>
              </a:rPr>
              <a:t> </a:t>
            </a:r>
            <a:r>
              <a:rPr lang="es-MX" sz="1900" dirty="0" err="1">
                <a:latin typeface="Arial" panose="020B0604020202020204" pitchFamily="34" charset="0"/>
                <a:cs typeface="Arial" panose="020B0604020202020204" pitchFamily="34" charset="0"/>
              </a:rPr>
              <a:t>postgresql</a:t>
            </a:r>
            <a:r>
              <a:rPr lang="es-MX" sz="1900" dirty="0">
                <a:latin typeface="Arial" panose="020B0604020202020204" pitchFamily="34" charset="0"/>
                <a:cs typeface="Arial" panose="020B0604020202020204" pitchFamily="34" charset="0"/>
              </a:rPr>
              <a:t>. Para detenerlo se usa sudo </a:t>
            </a:r>
            <a:r>
              <a:rPr lang="es-MX" sz="1900" dirty="0" err="1">
                <a:latin typeface="Arial" panose="020B0604020202020204" pitchFamily="34" charset="0"/>
                <a:cs typeface="Arial" panose="020B0604020202020204" pitchFamily="34" charset="0"/>
              </a:rPr>
              <a:t>systemctl</a:t>
            </a:r>
            <a:r>
              <a:rPr lang="es-MX" sz="1900" dirty="0">
                <a:latin typeface="Arial" panose="020B0604020202020204" pitchFamily="34" charset="0"/>
                <a:cs typeface="Arial" panose="020B0604020202020204" pitchFamily="34" charset="0"/>
              </a:rPr>
              <a:t> stop </a:t>
            </a:r>
            <a:r>
              <a:rPr lang="es-MX" sz="1900" dirty="0" err="1">
                <a:latin typeface="Arial" panose="020B0604020202020204" pitchFamily="34" charset="0"/>
                <a:cs typeface="Arial" panose="020B0604020202020204" pitchFamily="34" charset="0"/>
              </a:rPr>
              <a:t>postgresql</a:t>
            </a:r>
            <a:r>
              <a:rPr lang="es-MX" sz="1900" dirty="0">
                <a:latin typeface="Arial" panose="020B0604020202020204" pitchFamily="34" charset="0"/>
                <a:cs typeface="Arial" panose="020B0604020202020204" pitchFamily="34" charset="0"/>
              </a:rPr>
              <a:t>. Para reiniciarlo se utiliza sudo </a:t>
            </a:r>
            <a:r>
              <a:rPr lang="es-MX" sz="1900" dirty="0" err="1">
                <a:latin typeface="Arial" panose="020B0604020202020204" pitchFamily="34" charset="0"/>
                <a:cs typeface="Arial" panose="020B0604020202020204" pitchFamily="34" charset="0"/>
              </a:rPr>
              <a:t>systemctl</a:t>
            </a:r>
            <a:r>
              <a:rPr lang="es-MX" sz="1900" dirty="0">
                <a:latin typeface="Arial" panose="020B0604020202020204" pitchFamily="34" charset="0"/>
                <a:cs typeface="Arial" panose="020B0604020202020204" pitchFamily="34" charset="0"/>
              </a:rPr>
              <a:t> </a:t>
            </a:r>
            <a:r>
              <a:rPr lang="es-MX" sz="1900" dirty="0" err="1">
                <a:latin typeface="Arial" panose="020B0604020202020204" pitchFamily="34" charset="0"/>
                <a:cs typeface="Arial" panose="020B0604020202020204" pitchFamily="34" charset="0"/>
              </a:rPr>
              <a:t>restart</a:t>
            </a:r>
            <a:r>
              <a:rPr lang="es-MX" sz="1900" dirty="0">
                <a:latin typeface="Arial" panose="020B0604020202020204" pitchFamily="34" charset="0"/>
                <a:cs typeface="Arial" panose="020B0604020202020204" pitchFamily="34" charset="0"/>
              </a:rPr>
              <a:t> </a:t>
            </a:r>
            <a:r>
              <a:rPr lang="es-MX" sz="1900" dirty="0" err="1">
                <a:latin typeface="Arial" panose="020B0604020202020204" pitchFamily="34" charset="0"/>
                <a:cs typeface="Arial" panose="020B0604020202020204" pitchFamily="34" charset="0"/>
              </a:rPr>
              <a:t>postgresql</a:t>
            </a:r>
            <a:r>
              <a:rPr lang="es-MX" sz="1900" dirty="0">
                <a:latin typeface="Arial" panose="020B0604020202020204" pitchFamily="34" charset="0"/>
                <a:cs typeface="Arial" panose="020B0604020202020204" pitchFamily="34" charset="0"/>
              </a:rPr>
              <a:t> y para revisar si está activo se usa sudo </a:t>
            </a:r>
            <a:r>
              <a:rPr lang="es-MX" sz="1900" dirty="0" err="1">
                <a:latin typeface="Arial" panose="020B0604020202020204" pitchFamily="34" charset="0"/>
                <a:cs typeface="Arial" panose="020B0604020202020204" pitchFamily="34" charset="0"/>
              </a:rPr>
              <a:t>systemctl</a:t>
            </a:r>
            <a:r>
              <a:rPr lang="es-MX" sz="1900" dirty="0">
                <a:latin typeface="Arial" panose="020B0604020202020204" pitchFamily="34" charset="0"/>
                <a:cs typeface="Arial" panose="020B0604020202020204" pitchFamily="34" charset="0"/>
              </a:rPr>
              <a:t> status </a:t>
            </a:r>
            <a:r>
              <a:rPr lang="es-MX" sz="1900" dirty="0" err="1">
                <a:latin typeface="Arial" panose="020B0604020202020204" pitchFamily="34" charset="0"/>
                <a:cs typeface="Arial" panose="020B0604020202020204" pitchFamily="34" charset="0"/>
              </a:rPr>
              <a:t>postgresql</a:t>
            </a:r>
            <a:r>
              <a:rPr lang="es-MX" sz="1900" dirty="0">
                <a:latin typeface="Arial" panose="020B0604020202020204" pitchFamily="34" charset="0"/>
                <a:cs typeface="Arial" panose="020B0604020202020204" pitchFamily="34" charset="0"/>
              </a:rPr>
              <a:t>.</a:t>
            </a:r>
          </a:p>
          <a:p>
            <a:pPr marL="0" indent="0" algn="just">
              <a:buNone/>
            </a:pPr>
            <a:r>
              <a:rPr lang="es-MX" sz="1900" dirty="0">
                <a:latin typeface="Arial" panose="020B0604020202020204" pitchFamily="34" charset="0"/>
                <a:cs typeface="Arial" panose="020B0604020202020204" pitchFamily="34" charset="0"/>
              </a:rPr>
              <a:t>En MySQL el proceso es parecido. Se pueden usar comandos como sudo </a:t>
            </a:r>
            <a:r>
              <a:rPr lang="es-MX" sz="1900" dirty="0" err="1">
                <a:latin typeface="Arial" panose="020B0604020202020204" pitchFamily="34" charset="0"/>
                <a:cs typeface="Arial" panose="020B0604020202020204" pitchFamily="34" charset="0"/>
              </a:rPr>
              <a:t>systemctl</a:t>
            </a:r>
            <a:r>
              <a:rPr lang="es-MX" sz="1900" dirty="0">
                <a:latin typeface="Arial" panose="020B0604020202020204" pitchFamily="34" charset="0"/>
                <a:cs typeface="Arial" panose="020B0604020202020204" pitchFamily="34" charset="0"/>
              </a:rPr>
              <a:t> </a:t>
            </a:r>
            <a:r>
              <a:rPr lang="es-MX" sz="1900" dirty="0" err="1">
                <a:latin typeface="Arial" panose="020B0604020202020204" pitchFamily="34" charset="0"/>
                <a:cs typeface="Arial" panose="020B0604020202020204" pitchFamily="34" charset="0"/>
              </a:rPr>
              <a:t>start</a:t>
            </a:r>
            <a:r>
              <a:rPr lang="es-MX" sz="1900" dirty="0">
                <a:latin typeface="Arial" panose="020B0604020202020204" pitchFamily="34" charset="0"/>
                <a:cs typeface="Arial" panose="020B0604020202020204" pitchFamily="34" charset="0"/>
              </a:rPr>
              <a:t> </a:t>
            </a:r>
            <a:r>
              <a:rPr lang="es-MX" sz="1900" dirty="0" err="1">
                <a:latin typeface="Arial" panose="020B0604020202020204" pitchFamily="34" charset="0"/>
                <a:cs typeface="Arial" panose="020B0604020202020204" pitchFamily="34" charset="0"/>
              </a:rPr>
              <a:t>mysql</a:t>
            </a:r>
            <a:r>
              <a:rPr lang="es-MX" sz="1900" dirty="0">
                <a:latin typeface="Arial" panose="020B0604020202020204" pitchFamily="34" charset="0"/>
                <a:cs typeface="Arial" panose="020B0604020202020204" pitchFamily="34" charset="0"/>
              </a:rPr>
              <a:t>, sudo </a:t>
            </a:r>
            <a:r>
              <a:rPr lang="es-MX" sz="1900" dirty="0" err="1">
                <a:latin typeface="Arial" panose="020B0604020202020204" pitchFamily="34" charset="0"/>
                <a:cs typeface="Arial" panose="020B0604020202020204" pitchFamily="34" charset="0"/>
              </a:rPr>
              <a:t>systemctl</a:t>
            </a:r>
            <a:r>
              <a:rPr lang="es-MX" sz="1900" dirty="0">
                <a:latin typeface="Arial" panose="020B0604020202020204" pitchFamily="34" charset="0"/>
                <a:cs typeface="Arial" panose="020B0604020202020204" pitchFamily="34" charset="0"/>
              </a:rPr>
              <a:t> stop </a:t>
            </a:r>
            <a:r>
              <a:rPr lang="es-MX" sz="1900" dirty="0" err="1">
                <a:latin typeface="Arial" panose="020B0604020202020204" pitchFamily="34" charset="0"/>
                <a:cs typeface="Arial" panose="020B0604020202020204" pitchFamily="34" charset="0"/>
              </a:rPr>
              <a:t>mysql</a:t>
            </a:r>
            <a:r>
              <a:rPr lang="es-MX" sz="1900" dirty="0">
                <a:latin typeface="Arial" panose="020B0604020202020204" pitchFamily="34" charset="0"/>
                <a:cs typeface="Arial" panose="020B0604020202020204" pitchFamily="34" charset="0"/>
              </a:rPr>
              <a:t>, sudo </a:t>
            </a:r>
            <a:r>
              <a:rPr lang="es-MX" sz="1900" dirty="0" err="1">
                <a:latin typeface="Arial" panose="020B0604020202020204" pitchFamily="34" charset="0"/>
                <a:cs typeface="Arial" panose="020B0604020202020204" pitchFamily="34" charset="0"/>
              </a:rPr>
              <a:t>systemctl</a:t>
            </a:r>
            <a:r>
              <a:rPr lang="es-MX" sz="1900" dirty="0">
                <a:latin typeface="Arial" panose="020B0604020202020204" pitchFamily="34" charset="0"/>
                <a:cs typeface="Arial" panose="020B0604020202020204" pitchFamily="34" charset="0"/>
              </a:rPr>
              <a:t> </a:t>
            </a:r>
            <a:r>
              <a:rPr lang="es-MX" sz="1900" dirty="0" err="1">
                <a:latin typeface="Arial" panose="020B0604020202020204" pitchFamily="34" charset="0"/>
                <a:cs typeface="Arial" panose="020B0604020202020204" pitchFamily="34" charset="0"/>
              </a:rPr>
              <a:t>restart</a:t>
            </a:r>
            <a:r>
              <a:rPr lang="es-MX" sz="1900" dirty="0">
                <a:latin typeface="Arial" panose="020B0604020202020204" pitchFamily="34" charset="0"/>
                <a:cs typeface="Arial" panose="020B0604020202020204" pitchFamily="34" charset="0"/>
              </a:rPr>
              <a:t> </a:t>
            </a:r>
            <a:r>
              <a:rPr lang="es-MX" sz="1900" dirty="0" err="1">
                <a:latin typeface="Arial" panose="020B0604020202020204" pitchFamily="34" charset="0"/>
                <a:cs typeface="Arial" panose="020B0604020202020204" pitchFamily="34" charset="0"/>
              </a:rPr>
              <a:t>mysql</a:t>
            </a:r>
            <a:r>
              <a:rPr lang="es-MX" sz="1900" dirty="0">
                <a:latin typeface="Arial" panose="020B0604020202020204" pitchFamily="34" charset="0"/>
                <a:cs typeface="Arial" panose="020B0604020202020204" pitchFamily="34" charset="0"/>
              </a:rPr>
              <a:t> y sudo </a:t>
            </a:r>
            <a:r>
              <a:rPr lang="es-MX" sz="1900" dirty="0" err="1">
                <a:latin typeface="Arial" panose="020B0604020202020204" pitchFamily="34" charset="0"/>
                <a:cs typeface="Arial" panose="020B0604020202020204" pitchFamily="34" charset="0"/>
              </a:rPr>
              <a:t>systemctl</a:t>
            </a:r>
            <a:r>
              <a:rPr lang="es-MX" sz="1900" dirty="0">
                <a:latin typeface="Arial" panose="020B0604020202020204" pitchFamily="34" charset="0"/>
                <a:cs typeface="Arial" panose="020B0604020202020204" pitchFamily="34" charset="0"/>
              </a:rPr>
              <a:t> status </a:t>
            </a:r>
            <a:r>
              <a:rPr lang="es-MX" sz="1900" dirty="0" err="1">
                <a:latin typeface="Arial" panose="020B0604020202020204" pitchFamily="34" charset="0"/>
                <a:cs typeface="Arial" panose="020B0604020202020204" pitchFamily="34" charset="0"/>
              </a:rPr>
              <a:t>mysql</a:t>
            </a:r>
            <a:r>
              <a:rPr lang="es-MX" sz="1900" dirty="0">
                <a:latin typeface="Arial" panose="020B0604020202020204" pitchFamily="34" charset="0"/>
                <a:cs typeface="Arial" panose="020B0604020202020204" pitchFamily="34" charset="0"/>
              </a:rPr>
              <a:t>. Estos comandos permiten controlar el servicio de manera rápida desde la terminal.</a:t>
            </a:r>
          </a:p>
          <a:p>
            <a:pPr marL="0" indent="0" algn="just">
              <a:buNone/>
            </a:pPr>
            <a:r>
              <a:rPr lang="es-MX" sz="1900" dirty="0">
                <a:latin typeface="Arial" panose="020B0604020202020204" pitchFamily="34" charset="0"/>
                <a:cs typeface="Arial" panose="020B0604020202020204" pitchFamily="34" charset="0"/>
              </a:rPr>
              <a:t>En Windows, el SGBD también puede administrarse desde la ventana de servicios escribiendo </a:t>
            </a:r>
            <a:r>
              <a:rPr lang="es-MX" sz="1900" dirty="0" err="1">
                <a:latin typeface="Arial" panose="020B0604020202020204" pitchFamily="34" charset="0"/>
                <a:cs typeface="Arial" panose="020B0604020202020204" pitchFamily="34" charset="0"/>
              </a:rPr>
              <a:t>services.msc</a:t>
            </a:r>
            <a:r>
              <a:rPr lang="es-MX" sz="1900" dirty="0">
                <a:latin typeface="Arial" panose="020B0604020202020204" pitchFamily="34" charset="0"/>
                <a:cs typeface="Arial" panose="020B0604020202020204" pitchFamily="34" charset="0"/>
              </a:rPr>
              <a:t>. También se pueden usar comandos como net </a:t>
            </a:r>
            <a:r>
              <a:rPr lang="es-MX" sz="1900" dirty="0" err="1">
                <a:latin typeface="Arial" panose="020B0604020202020204" pitchFamily="34" charset="0"/>
                <a:cs typeface="Arial" panose="020B0604020202020204" pitchFamily="34" charset="0"/>
              </a:rPr>
              <a:t>start</a:t>
            </a:r>
            <a:r>
              <a:rPr lang="es-MX" sz="1900" dirty="0">
                <a:latin typeface="Arial" panose="020B0604020202020204" pitchFamily="34" charset="0"/>
                <a:cs typeface="Arial" panose="020B0604020202020204" pitchFamily="34" charset="0"/>
              </a:rPr>
              <a:t> </a:t>
            </a:r>
            <a:r>
              <a:rPr lang="es-MX" sz="1900" dirty="0" err="1">
                <a:latin typeface="Arial" panose="020B0604020202020204" pitchFamily="34" charset="0"/>
                <a:cs typeface="Arial" panose="020B0604020202020204" pitchFamily="34" charset="0"/>
              </a:rPr>
              <a:t>mysql</a:t>
            </a:r>
            <a:r>
              <a:rPr lang="es-MX" sz="1900" dirty="0">
                <a:latin typeface="Arial" panose="020B0604020202020204" pitchFamily="34" charset="0"/>
                <a:cs typeface="Arial" panose="020B0604020202020204" pitchFamily="34" charset="0"/>
              </a:rPr>
              <a:t> o net stop </a:t>
            </a:r>
            <a:r>
              <a:rPr lang="es-MX" sz="1900" dirty="0" err="1">
                <a:latin typeface="Arial" panose="020B0604020202020204" pitchFamily="34" charset="0"/>
                <a:cs typeface="Arial" panose="020B0604020202020204" pitchFamily="34" charset="0"/>
              </a:rPr>
              <a:t>mysql</a:t>
            </a:r>
            <a:r>
              <a:rPr lang="es-MX" sz="1900" dirty="0">
                <a:latin typeface="Arial" panose="020B0604020202020204" pitchFamily="34" charset="0"/>
                <a:cs typeface="Arial" panose="020B0604020202020204" pitchFamily="34" charset="0"/>
              </a:rPr>
              <a:t>. Estos comandos son importantes porque permiten administrar el funcionamiento del SGBD, aplicar cambios de configuración y solucionar problemas cuando el servicio no responde correctamente</a:t>
            </a:r>
            <a:r>
              <a:rPr lang="es-MX" dirty="0"/>
              <a:t>.</a:t>
            </a:r>
          </a:p>
          <a:p>
            <a:endParaRPr lang="es-MX" dirty="0"/>
          </a:p>
        </p:txBody>
      </p:sp>
    </p:spTree>
    <p:extLst>
      <p:ext uri="{BB962C8B-B14F-4D97-AF65-F5344CB8AC3E}">
        <p14:creationId xmlns:p14="http://schemas.microsoft.com/office/powerpoint/2010/main" val="554688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7568F-B416-4EC8-A123-C4137E883C39}"/>
              </a:ext>
            </a:extLst>
          </p:cNvPr>
          <p:cNvSpPr>
            <a:spLocks noGrp="1"/>
          </p:cNvSpPr>
          <p:nvPr>
            <p:ph type="title"/>
          </p:nvPr>
        </p:nvSpPr>
        <p:spPr>
          <a:xfrm>
            <a:off x="1371600" y="515470"/>
            <a:ext cx="9601200" cy="739588"/>
          </a:xfrm>
        </p:spPr>
        <p:txBody>
          <a:bodyPr/>
          <a:lstStyle/>
          <a:p>
            <a:pPr algn="ctr"/>
            <a:r>
              <a:rPr lang="es-MX" b="1" dirty="0">
                <a:latin typeface="Arial" panose="020B0604020202020204" pitchFamily="34" charset="0"/>
                <a:cs typeface="Arial" panose="020B0604020202020204" pitchFamily="34" charset="0"/>
              </a:rPr>
              <a:t>CONCLUSION </a:t>
            </a:r>
          </a:p>
        </p:txBody>
      </p:sp>
      <p:sp>
        <p:nvSpPr>
          <p:cNvPr id="3" name="Marcador de contenido 2">
            <a:extLst>
              <a:ext uri="{FF2B5EF4-FFF2-40B4-BE49-F238E27FC236}">
                <a16:creationId xmlns:a16="http://schemas.microsoft.com/office/drawing/2014/main" id="{BE31BA7C-11E4-40FD-81FC-916A162D92FA}"/>
              </a:ext>
            </a:extLst>
          </p:cNvPr>
          <p:cNvSpPr>
            <a:spLocks noGrp="1"/>
          </p:cNvSpPr>
          <p:nvPr>
            <p:ph idx="1"/>
          </p:nvPr>
        </p:nvSpPr>
        <p:spPr>
          <a:xfrm>
            <a:off x="1371600" y="1638299"/>
            <a:ext cx="10515600" cy="4045527"/>
          </a:xfrm>
        </p:spPr>
        <p:txBody>
          <a:bodyPr>
            <a:normAutofit/>
          </a:bodyPr>
          <a:lstStyle/>
          <a:p>
            <a:pPr marL="0" indent="0" algn="just">
              <a:buNone/>
            </a:pPr>
            <a:r>
              <a:rPr lang="es-MX" sz="1700" dirty="0">
                <a:latin typeface="Arial" panose="020B0604020202020204" pitchFamily="34" charset="0"/>
                <a:cs typeface="Arial" panose="020B0604020202020204" pitchFamily="34" charset="0"/>
              </a:rPr>
              <a:t>En esta  exposición  me permitió comprender que un SGBD no solamente sirve para guardar información, sino que también necesita una buena arquitectura para funcionar correctamente. Dentro de esa arquitectura se encuentran la memoria, los procesos de la instancia, los archivos físicos de la base de datos y las configuraciones necesarias para que todo trabaje de forma ordenada.</a:t>
            </a:r>
          </a:p>
          <a:p>
            <a:pPr marL="0" indent="0" algn="just">
              <a:buNone/>
            </a:pPr>
            <a:r>
              <a:rPr lang="es-MX" sz="1700" dirty="0">
                <a:latin typeface="Arial" panose="020B0604020202020204" pitchFamily="34" charset="0"/>
                <a:cs typeface="Arial" panose="020B0604020202020204" pitchFamily="34" charset="0"/>
              </a:rPr>
              <a:t>También pude entender que antes de instalar un SGBD se deben revisar varios aspectos importantes, como los requisitos del equipo, el sistema operativo, el espacio disponible y los permisos de instalación. Además, es importante saber configurarlo después de instalarlo, ya que ahí se definen usuarios, contraseñas, permisos, puertos y respaldos.</a:t>
            </a:r>
          </a:p>
          <a:p>
            <a:pPr marL="0" indent="0" algn="just">
              <a:buNone/>
            </a:pPr>
            <a:r>
              <a:rPr lang="es-MX" sz="1700" dirty="0">
                <a:latin typeface="Arial" panose="020B0604020202020204" pitchFamily="34" charset="0"/>
                <a:cs typeface="Arial" panose="020B0604020202020204" pitchFamily="34" charset="0"/>
              </a:rPr>
              <a:t>Otro punto importante es que el modo transaccional ayuda a proteger la información, porque permite que las operaciones se realicen completas o se cancelen si ocurre algún error. Esto evita que los datos queden mal registrados o incompletos.</a:t>
            </a:r>
          </a:p>
          <a:p>
            <a:pPr marL="0" indent="0" algn="just">
              <a:buNone/>
            </a:pPr>
            <a:endParaRPr lang="es-MX" dirty="0"/>
          </a:p>
        </p:txBody>
      </p:sp>
    </p:spTree>
    <p:extLst>
      <p:ext uri="{BB962C8B-B14F-4D97-AF65-F5344CB8AC3E}">
        <p14:creationId xmlns:p14="http://schemas.microsoft.com/office/powerpoint/2010/main" val="1277203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E4B8CF-3B95-4686-B73E-460EDC9E9C93}"/>
              </a:ext>
            </a:extLst>
          </p:cNvPr>
          <p:cNvSpPr>
            <a:spLocks noGrp="1"/>
          </p:cNvSpPr>
          <p:nvPr>
            <p:ph type="title"/>
          </p:nvPr>
        </p:nvSpPr>
        <p:spPr/>
        <p:txBody>
          <a:bodyPr>
            <a:normAutofit/>
          </a:bodyPr>
          <a:lstStyle/>
          <a:p>
            <a:pPr algn="ctr"/>
            <a:r>
              <a:rPr lang="es-MX" sz="3600" b="1" dirty="0">
                <a:latin typeface="Arial" panose="020B0604020202020204" pitchFamily="34" charset="0"/>
                <a:cs typeface="Arial" panose="020B0604020202020204" pitchFamily="34" charset="0"/>
              </a:rPr>
              <a:t>REFERENCIAS BIBLIOGRAFICAS</a:t>
            </a:r>
          </a:p>
        </p:txBody>
      </p:sp>
      <p:sp>
        <p:nvSpPr>
          <p:cNvPr id="4" name="Rectangle 1">
            <a:extLst>
              <a:ext uri="{FF2B5EF4-FFF2-40B4-BE49-F238E27FC236}">
                <a16:creationId xmlns:a16="http://schemas.microsoft.com/office/drawing/2014/main" id="{8A594627-71BC-4F10-9076-DD9FC0AB2D27}"/>
              </a:ext>
            </a:extLst>
          </p:cNvPr>
          <p:cNvSpPr>
            <a:spLocks noGrp="1" noChangeArrowheads="1"/>
          </p:cNvSpPr>
          <p:nvPr>
            <p:ph idx="1"/>
          </p:nvPr>
        </p:nvSpPr>
        <p:spPr bwMode="auto">
          <a:xfrm>
            <a:off x="1371600" y="1767006"/>
            <a:ext cx="1006879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056" tIns="0" rIns="9144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8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Estructura de memoria y procesos de la instancia</a:t>
            </a:r>
            <a:r>
              <a:rPr kumimoji="0" lang="es-MX" altLang="es-MX"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(2021, 28 julio). </a:t>
            </a:r>
            <a:r>
              <a:rPr kumimoji="0" lang="es-MX" altLang="es-MX" sz="1800" b="0" i="0" u="none" strike="noStrike" cap="none" normalizeH="0" baseline="0" dirty="0">
                <a:ln>
                  <a:noFill/>
                </a:ln>
                <a:solidFill>
                  <a:schemeClr val="tx1"/>
                </a:solidFill>
                <a:effectLst/>
                <a:latin typeface="Arial" panose="020B0604020202020204" pitchFamily="34" charset="0"/>
                <a:cs typeface="Arial" panose="020B0604020202020204" pitchFamily="34" charset="0"/>
                <a:hlinkClick r:id="rId2"/>
              </a:rPr>
              <a:t>https://administracionbasededatosequipo4.blogspot.com/2021/07/estructura-de-memoria-y-procesos-de-la.htm</a:t>
            </a:r>
            <a:endParaRPr kumimoji="0" lang="es-MX" altLang="es-MX"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Rodriguez</a:t>
            </a:r>
            <a:r>
              <a:rPr kumimoji="0" lang="es-MX" altLang="es-MX"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M. (2024, 3 junio). </a:t>
            </a:r>
            <a:r>
              <a:rPr kumimoji="0" lang="es-MX" altLang="es-MX" sz="18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Requerimientos de instalación: Conoce los pasos para una configuración exitosa.</a:t>
            </a:r>
          </a:p>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MX" altLang="es-MX" sz="18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Saberpunto</a:t>
            </a:r>
            <a:r>
              <a:rPr kumimoji="0" lang="es-MX" altLang="es-MX"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MX" altLang="es-MX" sz="1800" b="0" i="0" u="none" strike="noStrike" cap="none" normalizeH="0" baseline="0" dirty="0">
                <a:ln>
                  <a:noFill/>
                </a:ln>
                <a:solidFill>
                  <a:schemeClr val="tx1"/>
                </a:solidFill>
                <a:effectLst/>
                <a:latin typeface="Arial" panose="020B0604020202020204" pitchFamily="34" charset="0"/>
                <a:cs typeface="Arial" panose="020B0604020202020204" pitchFamily="34" charset="0"/>
                <a:hlinkClick r:id="rId3"/>
              </a:rPr>
              <a:t>https://saberpunto.com/tecnologia/requerimientos-de-instalacion-conoce-los-pasos-para-una-configuracion-exitosa</a:t>
            </a:r>
            <a:endParaRPr lang="es-MX" altLang="es-MX" sz="1800" dirty="0">
              <a:solidFill>
                <a:schemeClr val="tx1"/>
              </a:solidFill>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s-MX" altLang="es-MX" sz="2400" dirty="0">
              <a:solidFill>
                <a:schemeClr val="tx1"/>
              </a:solidFill>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s-MX" altLang="es-MX" sz="2400" dirty="0">
              <a:solidFill>
                <a:schemeClr val="tx1"/>
              </a:solidFill>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MX" altLang="es-MX" sz="2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5680651"/>
      </p:ext>
    </p:extLst>
  </p:cSld>
  <p:clrMapOvr>
    <a:masterClrMapping/>
  </p:clrMapOvr>
</p:sld>
</file>

<file path=ppt/theme/theme1.xml><?xml version="1.0" encoding="utf-8"?>
<a:theme xmlns:a="http://schemas.openxmlformats.org/drawingml/2006/main" name="Recorte">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{D9B80884-400D-4A29-8C8D-E9EB6E30055A}TFc3084226-2d0c-440f-9f46-6b48c7a7f67072cb6e88-8271218bd41d</Template>
  <TotalTime>451</TotalTime>
  <Words>2110</Words>
  <Application>Microsoft Office PowerPoint</Application>
  <PresentationFormat>Panorámica</PresentationFormat>
  <Paragraphs>67</Paragraphs>
  <Slides>13</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13</vt:i4>
      </vt:variant>
    </vt:vector>
  </HeadingPairs>
  <TitlesOfParts>
    <vt:vector size="16" baseType="lpstr">
      <vt:lpstr>Arial</vt:lpstr>
      <vt:lpstr>Franklin Gothic Book</vt:lpstr>
      <vt:lpstr>Recorte</vt:lpstr>
      <vt:lpstr>Presentación de PowerPoint</vt:lpstr>
      <vt:lpstr>INTRODUCCIÓN </vt:lpstr>
      <vt:lpstr>OBJETIVO</vt:lpstr>
      <vt:lpstr>2.1 ESTRUCTURA DE MEMORIA Y PROCESOS DE LA INSTANCIA     </vt:lpstr>
      <vt:lpstr> 2.2 ESTRUCTURA FÍSICA DE LA BASE DE DATOS</vt:lpstr>
      <vt:lpstr>2.3 REQUERIMIENTOS PARA INSTALACIÓN</vt:lpstr>
      <vt:lpstr>2.4 INSTALACIÓN DEL SGBD EN MODO TRANSACCIONAL</vt:lpstr>
      <vt:lpstr>2.5 VARIABLES DE AMBIENTE Y ARCHIVOS IMPORTANTES PARA INSTALACIÓN</vt:lpstr>
      <vt:lpstr>2.6 PROCEDIMIENTO GENERAL DE INSTALACIÓN</vt:lpstr>
      <vt:lpstr>2.7 PROCEDIMIENTO PARA CONFIGURACIÓN DE UN SGBD</vt:lpstr>
      <vt:lpstr>2.8 Comandos generales de alta y baja del SGBD</vt:lpstr>
      <vt:lpstr>CONCLUSION </vt:lpstr>
      <vt:lpstr>REFERENCIAS BIBLIOGRAFICAS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28</cp:revision>
  <dcterms:created xsi:type="dcterms:W3CDTF">2026-05-01T07:03:44Z</dcterms:created>
  <dcterms:modified xsi:type="dcterms:W3CDTF">2026-05-30T10:56:05Z</dcterms:modified>
</cp:coreProperties>
</file>
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1" r:id="rId1"/>
  </p:sldMasterIdLst>
  <p:sldIdLst>
    <p:sldId id="256" r:id="rId2"/>
    <p:sldId id="285" r:id="rId3"/>
    <p:sldId id="284" r:id="rId4"/>
    <p:sldId id="294" r:id="rId5"/>
    <p:sldId id="295" r:id="rId6"/>
    <p:sldId id="296" r:id="rId7"/>
    <p:sldId id="297" r:id="rId8"/>
    <p:sldId id="286"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07" autoAdjust="0"/>
    <p:restoredTop sz="94660"/>
  </p:normalViewPr>
  <p:slideViewPr>
    <p:cSldViewPr snapToGrid="0">
      <p:cViewPr varScale="1">
        <p:scale>
          <a:sx n="85" d="100"/>
          <a:sy n="85" d="100"/>
        </p:scale>
        <p:origin x="63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6593826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1012053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2906318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796187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27065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8615946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871024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23153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1439218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1881633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610241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38958453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336571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87DE6118-2437-4B30-8E3C-4D2BE6020583}" type="datetimeFigureOut">
              <a:rPr lang="en-US" smtClean="0"/>
              <a:pPr/>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41576710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35923518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6/4/2026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‹Nº›</a:t>
            </a:fld>
            <a:endParaRPr lang="en-US" dirty="0"/>
          </a:p>
        </p:txBody>
      </p:sp>
    </p:spTree>
    <p:extLst>
      <p:ext uri="{BB962C8B-B14F-4D97-AF65-F5344CB8AC3E}">
        <p14:creationId xmlns:p14="http://schemas.microsoft.com/office/powerpoint/2010/main" val="1101187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7DE6118-2437-4B30-8E3C-4D2BE6020583}" type="datetimeFigureOut">
              <a:rPr lang="en-US" smtClean="0"/>
              <a:pPr/>
              <a:t>6/4/2026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69E57DC2-970A-4B3E-BB1C-7A09969E49DF}" type="slidenum">
              <a:rPr lang="en-US" smtClean="0"/>
              <a:pPr/>
              <a:t>‹Nº›</a:t>
            </a:fld>
            <a:endParaRPr lang="en-US" dirty="0"/>
          </a:p>
        </p:txBody>
      </p:sp>
    </p:spTree>
    <p:extLst>
      <p:ext uri="{BB962C8B-B14F-4D97-AF65-F5344CB8AC3E}">
        <p14:creationId xmlns:p14="http://schemas.microsoft.com/office/powerpoint/2010/main" val="2532622145"/>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8550C69D-BBBD-4F17-8133-94C6C7338196}"/>
              </a:ext>
            </a:extLst>
          </p:cNvPr>
          <p:cNvPicPr>
            <a:picLocks noChangeAspect="1"/>
          </p:cNvPicPr>
          <p:nvPr/>
        </p:nvPicPr>
        <p:blipFill rotWithShape="1">
          <a:blip r:embed="rId2"/>
          <a:srcRect l="6551" t="37365" r="5073"/>
          <a:stretch/>
        </p:blipFill>
        <p:spPr>
          <a:xfrm>
            <a:off x="868744" y="230771"/>
            <a:ext cx="8505389" cy="532799"/>
          </a:xfrm>
          <a:prstGeom prst="rect">
            <a:avLst/>
          </a:prstGeom>
        </p:spPr>
      </p:pic>
      <p:sp>
        <p:nvSpPr>
          <p:cNvPr id="6" name="CuadroTexto 5">
            <a:extLst>
              <a:ext uri="{FF2B5EF4-FFF2-40B4-BE49-F238E27FC236}">
                <a16:creationId xmlns:a16="http://schemas.microsoft.com/office/drawing/2014/main" id="{506993DB-65C9-450C-8724-028B67E627C7}"/>
              </a:ext>
            </a:extLst>
          </p:cNvPr>
          <p:cNvSpPr txBox="1"/>
          <p:nvPr/>
        </p:nvSpPr>
        <p:spPr>
          <a:xfrm>
            <a:off x="1273312" y="1197917"/>
            <a:ext cx="8005111" cy="4866717"/>
          </a:xfrm>
          <a:prstGeom prst="rect">
            <a:avLst/>
          </a:prstGeom>
          <a:noFill/>
        </p:spPr>
        <p:txBody>
          <a:bodyPr wrap="square" rtlCol="0">
            <a:spAutoFit/>
          </a:bodyPr>
          <a:lstStyle/>
          <a:p>
            <a:pPr marL="12700" marR="1219200" indent="-12700" algn="ctr">
              <a:lnSpc>
                <a:spcPct val="107000"/>
              </a:lnSpc>
              <a:spcAft>
                <a:spcPts val="1115"/>
              </a:spcAft>
            </a:pPr>
            <a:r>
              <a:rPr lang="es-MX" sz="1100"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Instituto Tecnológico de Frontera Comalapa</a:t>
            </a:r>
          </a:p>
          <a:p>
            <a:pPr marL="12700" marR="1219200" indent="-12700" algn="ctr">
              <a:lnSpc>
                <a:spcPct val="107000"/>
              </a:lnSpc>
              <a:spcAft>
                <a:spcPts val="111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Modalidad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Mixta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Materia: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Administración de base de datos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Semestre: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Sexto semestre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Especialidad:</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Ingeniería en Sistemas Computacionales.  </a:t>
            </a: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Numero de control: </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231260010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alumno:</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  Simone Belén López Ramírez</a:t>
            </a: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a:t>
            </a:r>
            <a:endParaRPr lang="es-MX" dirty="0">
              <a:solidFill>
                <a:srgbClr val="000000"/>
              </a:solidFill>
              <a:latin typeface="Arial" panose="020B0604020202020204" pitchFamily="34" charset="0"/>
              <a:ea typeface="Arial" panose="020B0604020202020204" pitchFamily="34" charset="0"/>
              <a:cs typeface="Arial" panose="020B0604020202020204" pitchFamily="34" charset="0"/>
            </a:endParaRPr>
          </a:p>
          <a:p>
            <a:pPr marL="96520" marR="89535" indent="-6350" algn="ctr">
              <a:lnSpc>
                <a:spcPct val="107000"/>
              </a:lnSpc>
              <a:spcAft>
                <a:spcPts val="805"/>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Nombre del docente:</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Ing.Francisco Javier Mingo Velásquez</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                     Nombre del trabajo:2.2 Reporte de practica </a:t>
            </a:r>
          </a:p>
          <a:p>
            <a:pPr marL="12700" marR="881380" indent="-12700" algn="ctr">
              <a:lnSpc>
                <a:spcPct val="157000"/>
              </a:lnSpc>
              <a:spcAft>
                <a:spcPts val="1390"/>
              </a:spcAft>
            </a:pPr>
            <a:r>
              <a:rPr lang="es-MX" b="1" dirty="0">
                <a:solidFill>
                  <a:srgbClr val="000000"/>
                </a:solidFill>
                <a:effectLst/>
                <a:latin typeface="Arial" panose="020B0604020202020204" pitchFamily="34" charset="0"/>
                <a:ea typeface="Arial" panose="020B0604020202020204" pitchFamily="34" charset="0"/>
                <a:cs typeface="Arial" panose="020B0604020202020204" pitchFamily="34" charset="0"/>
              </a:rPr>
              <a:t>Fecha de entrega</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a:t>
            </a:r>
          </a:p>
          <a:p>
            <a:pPr algn="ct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Frontera Comalapa , Chiapas a </a:t>
            </a:r>
            <a:r>
              <a:rPr lang="es-MX" dirty="0">
                <a:solidFill>
                  <a:srgbClr val="000000"/>
                </a:solidFill>
                <a:latin typeface="Arial" panose="020B0604020202020204" pitchFamily="34" charset="0"/>
                <a:ea typeface="Arial" panose="020B0604020202020204" pitchFamily="34" charset="0"/>
                <a:cs typeface="Arial" panose="020B0604020202020204" pitchFamily="34" charset="0"/>
              </a:rPr>
              <a:t>03/05/</a:t>
            </a:r>
            <a:r>
              <a:rPr lang="es-MX" dirty="0">
                <a:solidFill>
                  <a:srgbClr val="000000"/>
                </a:solidFill>
                <a:effectLst/>
                <a:latin typeface="Arial" panose="020B0604020202020204" pitchFamily="34" charset="0"/>
                <a:ea typeface="Arial" panose="020B0604020202020204" pitchFamily="34" charset="0"/>
                <a:cs typeface="Arial" panose="020B0604020202020204" pitchFamily="34" charset="0"/>
              </a:rPr>
              <a:t>2026 </a:t>
            </a:r>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8986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24523B-31FB-4F59-A12E-EF01687EC1E2}"/>
              </a:ext>
            </a:extLst>
          </p:cNvPr>
          <p:cNvSpPr>
            <a:spLocks noGrp="1"/>
          </p:cNvSpPr>
          <p:nvPr>
            <p:ph type="title"/>
          </p:nvPr>
        </p:nvSpPr>
        <p:spPr/>
        <p:txBody>
          <a:bodyPr>
            <a:normAutofit/>
          </a:bodyPr>
          <a:lstStyle/>
          <a:p>
            <a:pPr algn="ctr"/>
            <a:r>
              <a:rPr lang="es-MX" sz="4000" b="1" dirty="0">
                <a:solidFill>
                  <a:schemeClr val="tx1"/>
                </a:solidFill>
                <a:latin typeface="Arial" panose="020B0604020202020204" pitchFamily="34" charset="0"/>
                <a:cs typeface="Arial" panose="020B0604020202020204" pitchFamily="34" charset="0"/>
              </a:rPr>
              <a:t>INTRODUCCIÓN </a:t>
            </a:r>
          </a:p>
        </p:txBody>
      </p:sp>
      <p:sp>
        <p:nvSpPr>
          <p:cNvPr id="3" name="Marcador de contenido 2">
            <a:extLst>
              <a:ext uri="{FF2B5EF4-FFF2-40B4-BE49-F238E27FC236}">
                <a16:creationId xmlns:a16="http://schemas.microsoft.com/office/drawing/2014/main" id="{51BB4FFF-1A44-44B7-B117-1B035ACBAA68}"/>
              </a:ext>
            </a:extLst>
          </p:cNvPr>
          <p:cNvSpPr>
            <a:spLocks noGrp="1"/>
          </p:cNvSpPr>
          <p:nvPr>
            <p:ph idx="1"/>
          </p:nvPr>
        </p:nvSpPr>
        <p:spPr>
          <a:xfrm>
            <a:off x="959223" y="1828800"/>
            <a:ext cx="8516471" cy="3581400"/>
          </a:xfrm>
        </p:spPr>
        <p:txBody>
          <a:bodyPr>
            <a:normAutofit/>
          </a:bodyPr>
          <a:lstStyle/>
          <a:p>
            <a:pPr marL="0" indent="0" algn="just">
              <a:buNone/>
            </a:pPr>
            <a:r>
              <a:rPr lang="es-MX" sz="1400" dirty="0">
                <a:latin typeface="Arial" panose="020B0604020202020204" pitchFamily="34" charset="0"/>
                <a:cs typeface="Arial" panose="020B0604020202020204" pitchFamily="34" charset="0"/>
              </a:rPr>
              <a:t>Se realizaron diferentes pruebas al microservicio mediante peticiones HTTP, utilizando los métodos GET, POST, PUT y DELETE con la herramienta Bruno. La finalidad de esta actividad fue verificar que cada una de las operaciones funcionara correctamente, analizando las respuestas generadas por el servidor en cada solicitud. Además, permitió comprender mejor la comunicación entre el cliente y el servidor, así como la importancia de probar los </a:t>
            </a:r>
            <a:r>
              <a:rPr lang="es-MX" sz="1400" dirty="0" err="1">
                <a:latin typeface="Arial" panose="020B0604020202020204" pitchFamily="34" charset="0"/>
                <a:cs typeface="Arial" panose="020B0604020202020204" pitchFamily="34" charset="0"/>
              </a:rPr>
              <a:t>endpoints</a:t>
            </a:r>
            <a:r>
              <a:rPr lang="es-MX" sz="1400" dirty="0">
                <a:latin typeface="Arial" panose="020B0604020202020204" pitchFamily="34" charset="0"/>
                <a:cs typeface="Arial" panose="020B0604020202020204" pitchFamily="34" charset="0"/>
              </a:rPr>
              <a:t> para asegurar que el sistema responda de manera adecuada y cumpla con su funcionamiento esperado</a:t>
            </a:r>
          </a:p>
        </p:txBody>
      </p:sp>
    </p:spTree>
    <p:extLst>
      <p:ext uri="{BB962C8B-B14F-4D97-AF65-F5344CB8AC3E}">
        <p14:creationId xmlns:p14="http://schemas.microsoft.com/office/powerpoint/2010/main" val="3293258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45FD57D-AB14-423D-8CD4-7A9E7BE99C6C}"/>
              </a:ext>
            </a:extLst>
          </p:cNvPr>
          <p:cNvSpPr>
            <a:spLocks noGrp="1"/>
          </p:cNvSpPr>
          <p:nvPr>
            <p:ph type="title"/>
          </p:nvPr>
        </p:nvSpPr>
        <p:spPr>
          <a:xfrm>
            <a:off x="295836" y="506506"/>
            <a:ext cx="9601200" cy="802341"/>
          </a:xfrm>
        </p:spPr>
        <p:txBody>
          <a:bodyPr/>
          <a:lstStyle/>
          <a:p>
            <a:pPr algn="ctr"/>
            <a:r>
              <a:rPr lang="es-MX" b="1" dirty="0">
                <a:solidFill>
                  <a:schemeClr val="tx1"/>
                </a:solidFill>
                <a:latin typeface="Arial" panose="020B0604020202020204" pitchFamily="34" charset="0"/>
                <a:cs typeface="Arial" panose="020B0604020202020204" pitchFamily="34" charset="0"/>
              </a:rPr>
              <a:t>JUSTIFICACION</a:t>
            </a:r>
          </a:p>
        </p:txBody>
      </p:sp>
      <p:sp>
        <p:nvSpPr>
          <p:cNvPr id="4" name="Rectangle 1">
            <a:extLst>
              <a:ext uri="{FF2B5EF4-FFF2-40B4-BE49-F238E27FC236}">
                <a16:creationId xmlns:a16="http://schemas.microsoft.com/office/drawing/2014/main" id="{48812A74-E031-4538-8BA8-F383D1D98685}"/>
              </a:ext>
            </a:extLst>
          </p:cNvPr>
          <p:cNvSpPr>
            <a:spLocks noGrp="1" noChangeArrowheads="1"/>
          </p:cNvSpPr>
          <p:nvPr>
            <p:ph idx="1"/>
          </p:nvPr>
        </p:nvSpPr>
        <p:spPr bwMode="auto">
          <a:xfrm>
            <a:off x="555811" y="2807128"/>
            <a:ext cx="851647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kumimoji="0" lang="es-MX" altLang="es-MX" sz="1400" b="0" i="0" u="none" strike="noStrike" cap="none" normalizeH="0" baseline="0" dirty="0">
                <a:ln>
                  <a:noFill/>
                </a:ln>
                <a:solidFill>
                  <a:schemeClr val="tx1"/>
                </a:solidFill>
                <a:effectLst/>
                <a:latin typeface="Arial" panose="020B0604020202020204" pitchFamily="34" charset="0"/>
              </a:rPr>
            </a:br>
            <a:endParaRPr kumimoji="0" lang="es-MX" altLang="es-MX" sz="1400" b="0" i="0" u="none" strike="noStrike" cap="none" normalizeH="0" baseline="0" dirty="0">
              <a:ln>
                <a:noFill/>
              </a:ln>
              <a:solidFill>
                <a:schemeClr val="tx1"/>
              </a:solidFill>
              <a:effectLst/>
              <a:latin typeface="Arial" panose="020B0604020202020204" pitchFamily="34" charset="0"/>
            </a:endParaRPr>
          </a:p>
        </p:txBody>
      </p:sp>
      <p:sp>
        <p:nvSpPr>
          <p:cNvPr id="3" name="CuadroTexto 2">
            <a:extLst>
              <a:ext uri="{FF2B5EF4-FFF2-40B4-BE49-F238E27FC236}">
                <a16:creationId xmlns:a16="http://schemas.microsoft.com/office/drawing/2014/main" id="{0BCCC491-CBB4-48D8-81B1-4361FC88DF0C}"/>
              </a:ext>
            </a:extLst>
          </p:cNvPr>
          <p:cNvSpPr txBox="1"/>
          <p:nvPr/>
        </p:nvSpPr>
        <p:spPr>
          <a:xfrm>
            <a:off x="1066800" y="2052918"/>
            <a:ext cx="8319248" cy="2062103"/>
          </a:xfrm>
          <a:prstGeom prst="rect">
            <a:avLst/>
          </a:prstGeom>
          <a:noFill/>
        </p:spPr>
        <p:txBody>
          <a:bodyPr wrap="square" rtlCol="0">
            <a:spAutoFit/>
          </a:bodyPr>
          <a:lstStyle/>
          <a:p>
            <a:pPr algn="just"/>
            <a:r>
              <a:rPr lang="es-MX" sz="1600" dirty="0">
                <a:latin typeface="Arial" panose="020B0604020202020204" pitchFamily="34" charset="0"/>
                <a:cs typeface="Arial" panose="020B0604020202020204" pitchFamily="34" charset="0"/>
              </a:rPr>
              <a:t>La elaboración de este reporte de practica resulta importante porque permite llevar a la práctica los conocimientos relacionados con la administración de bases de datos y el funcionamiento de un servidor web. Al trabajar con métodos HTTP para realizar peticiones, se comprende mejor cómo operan muchas aplicaciones actuales, ya que estas necesitan crear, consultar, actualizar y eliminar información de manera dinámica. Además, esta actividad ayuda a reforzar habilidades técnicas importantes, como el uso de herramientas de prueba, la interpretación de respuestas del servidor y la validación de resultados dentro de un sistema.</a:t>
            </a:r>
          </a:p>
        </p:txBody>
      </p:sp>
    </p:spTree>
    <p:extLst>
      <p:ext uri="{BB962C8B-B14F-4D97-AF65-F5344CB8AC3E}">
        <p14:creationId xmlns:p14="http://schemas.microsoft.com/office/powerpoint/2010/main" val="3071430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Marcador de contenido 10">
            <a:extLst>
              <a:ext uri="{FF2B5EF4-FFF2-40B4-BE49-F238E27FC236}">
                <a16:creationId xmlns:a16="http://schemas.microsoft.com/office/drawing/2014/main" id="{96EF10E6-02A1-493A-9106-DDD354E35B76}"/>
              </a:ext>
            </a:extLst>
          </p:cNvPr>
          <p:cNvPicPr>
            <a:picLocks noGrp="1" noChangeAspect="1"/>
          </p:cNvPicPr>
          <p:nvPr>
            <p:ph idx="1"/>
          </p:nvPr>
        </p:nvPicPr>
        <p:blipFill>
          <a:blip r:embed="rId2"/>
          <a:stretch>
            <a:fillRect/>
          </a:stretch>
        </p:blipFill>
        <p:spPr>
          <a:xfrm>
            <a:off x="156058" y="0"/>
            <a:ext cx="7750812" cy="3944033"/>
          </a:xfrm>
        </p:spPr>
      </p:pic>
      <p:sp>
        <p:nvSpPr>
          <p:cNvPr id="12" name="Rectangle 1">
            <a:extLst>
              <a:ext uri="{FF2B5EF4-FFF2-40B4-BE49-F238E27FC236}">
                <a16:creationId xmlns:a16="http://schemas.microsoft.com/office/drawing/2014/main" id="{E8A6BDBE-BABA-4BF8-B4AC-6FB09A47ECCB}"/>
              </a:ext>
            </a:extLst>
          </p:cNvPr>
          <p:cNvSpPr>
            <a:spLocks noChangeArrowheads="1"/>
          </p:cNvSpPr>
          <p:nvPr/>
        </p:nvSpPr>
        <p:spPr bwMode="auto">
          <a:xfrm>
            <a:off x="230426" y="3778903"/>
            <a:ext cx="9481000"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MX" altLang="es-MX" dirty="0"/>
              <a:t>Pasos en Bruno:</a:t>
            </a:r>
            <a:br>
              <a:rPr lang="es-MX" altLang="es-MX" dirty="0"/>
            </a:br>
            <a:r>
              <a:rPr lang="es-MX" altLang="es-MX" dirty="0"/>
              <a:t>Primero seleccioné la petición</a:t>
            </a:r>
            <a:r>
              <a:rPr lang="es-MX" altLang="es-MX" b="1" dirty="0">
                <a:latin typeface="Arial Black" panose="020B0A04020102020204" pitchFamily="34" charset="0"/>
              </a:rPr>
              <a:t> GET </a:t>
            </a:r>
            <a:r>
              <a:rPr lang="es-MX" altLang="es-MX" dirty="0"/>
              <a:t>Listar Estudiantes dentro de la colección. Después revisé que la URL estuviera escrita correctamente con la ruta </a:t>
            </a:r>
            <a:r>
              <a:rPr lang="es-MX" altLang="es-MX" dirty="0" err="1"/>
              <a:t>baseUrl</a:t>
            </a:r>
            <a:r>
              <a:rPr lang="es-MX" altLang="es-MX" dirty="0"/>
              <a:t>/trabajadores. Luego confirmé que la pestaña </a:t>
            </a:r>
            <a:r>
              <a:rPr lang="es-MX" altLang="es-MX" dirty="0" err="1"/>
              <a:t>Body</a:t>
            </a:r>
            <a:r>
              <a:rPr lang="es-MX" altLang="es-MX" dirty="0"/>
              <a:t> estuviera vacía, ya que para una consulta de tipo GET no es necesario enviar datos. Finalmente presioné el botón </a:t>
            </a:r>
            <a:r>
              <a:rPr lang="es-MX" altLang="es-MX" dirty="0" err="1"/>
              <a:t>Send</a:t>
            </a:r>
            <a:r>
              <a:rPr lang="es-MX" altLang="es-MX" dirty="0"/>
              <a:t> y verifiqué en la parte inferior que la respuesta del servidor mostrara el estado 200 OK, lo cual indica que la petición se ejecutó correctamente. </a:t>
            </a:r>
          </a:p>
        </p:txBody>
      </p:sp>
    </p:spTree>
    <p:extLst>
      <p:ext uri="{BB962C8B-B14F-4D97-AF65-F5344CB8AC3E}">
        <p14:creationId xmlns:p14="http://schemas.microsoft.com/office/powerpoint/2010/main" val="875539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a:extLst>
              <a:ext uri="{FF2B5EF4-FFF2-40B4-BE49-F238E27FC236}">
                <a16:creationId xmlns:a16="http://schemas.microsoft.com/office/drawing/2014/main" id="{F94F922F-F3F2-4875-AB1A-C0A91B1DC962}"/>
              </a:ext>
            </a:extLst>
          </p:cNvPr>
          <p:cNvPicPr>
            <a:picLocks noGrp="1" noChangeAspect="1"/>
          </p:cNvPicPr>
          <p:nvPr>
            <p:ph idx="1"/>
          </p:nvPr>
        </p:nvPicPr>
        <p:blipFill>
          <a:blip r:embed="rId2"/>
          <a:stretch>
            <a:fillRect/>
          </a:stretch>
        </p:blipFill>
        <p:spPr>
          <a:xfrm>
            <a:off x="77390" y="5549"/>
            <a:ext cx="7910163" cy="4025119"/>
          </a:xfrm>
        </p:spPr>
      </p:pic>
      <p:sp>
        <p:nvSpPr>
          <p:cNvPr id="7" name="Rectangle 1">
            <a:extLst>
              <a:ext uri="{FF2B5EF4-FFF2-40B4-BE49-F238E27FC236}">
                <a16:creationId xmlns:a16="http://schemas.microsoft.com/office/drawing/2014/main" id="{5452AB30-1E04-466E-9356-88B2D3815CD6}"/>
              </a:ext>
            </a:extLst>
          </p:cNvPr>
          <p:cNvSpPr>
            <a:spLocks noChangeArrowheads="1"/>
          </p:cNvSpPr>
          <p:nvPr/>
        </p:nvSpPr>
        <p:spPr bwMode="auto">
          <a:xfrm>
            <a:off x="340440" y="3744433"/>
            <a:ext cx="9251796"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br>
              <a:rPr lang="es-MX" altLang="es-MX" sz="1600" dirty="0">
                <a:latin typeface="Arial" panose="020B0604020202020204" pitchFamily="34" charset="0"/>
                <a:cs typeface="Arial" panose="020B0604020202020204" pitchFamily="34" charset="0"/>
              </a:rPr>
            </a:br>
            <a:r>
              <a:rPr lang="es-MX" altLang="es-MX" sz="1600" dirty="0">
                <a:latin typeface="Arial" panose="020B0604020202020204" pitchFamily="34" charset="0"/>
                <a:cs typeface="Arial" panose="020B0604020202020204" pitchFamily="34" charset="0"/>
              </a:rPr>
              <a:t>Seleccioné la petición </a:t>
            </a:r>
            <a:r>
              <a:rPr lang="es-MX" altLang="es-MX" sz="1600" dirty="0">
                <a:latin typeface="Arial Black" panose="020B0A04020102020204" pitchFamily="34" charset="0"/>
                <a:cs typeface="Arial" panose="020B0604020202020204" pitchFamily="34" charset="0"/>
              </a:rPr>
              <a:t>POST</a:t>
            </a:r>
            <a:r>
              <a:rPr lang="es-MX" altLang="es-MX" sz="1600" dirty="0">
                <a:latin typeface="Arial" panose="020B0604020202020204" pitchFamily="34" charset="0"/>
                <a:cs typeface="Arial" panose="020B0604020202020204" pitchFamily="34" charset="0"/>
              </a:rPr>
              <a:t> Registrar Estudiante dentro de la colección. Después entré a la pestaña </a:t>
            </a:r>
            <a:r>
              <a:rPr lang="es-MX" altLang="es-MX" sz="1600" dirty="0" err="1">
                <a:latin typeface="Arial" panose="020B0604020202020204" pitchFamily="34" charset="0"/>
                <a:cs typeface="Arial" panose="020B0604020202020204" pitchFamily="34" charset="0"/>
              </a:rPr>
              <a:t>Body</a:t>
            </a:r>
            <a:r>
              <a:rPr lang="es-MX" altLang="es-MX" sz="1600" dirty="0">
                <a:latin typeface="Arial" panose="020B0604020202020204" pitchFamily="34" charset="0"/>
                <a:cs typeface="Arial" panose="020B0604020202020204" pitchFamily="34" charset="0"/>
              </a:rPr>
              <a:t> y elegí el formato JSON para enviar los datos correctamente. Luego eliminé cualquier información que estuviera escrita anteriormente y pegué el nuevo contenido JSON correspondiente al estudiante que se iba a registrar.</a:t>
            </a:r>
          </a:p>
        </p:txBody>
      </p:sp>
    </p:spTree>
    <p:extLst>
      <p:ext uri="{BB962C8B-B14F-4D97-AF65-F5344CB8AC3E}">
        <p14:creationId xmlns:p14="http://schemas.microsoft.com/office/powerpoint/2010/main" val="1214216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uadroTexto 5">
            <a:extLst>
              <a:ext uri="{FF2B5EF4-FFF2-40B4-BE49-F238E27FC236}">
                <a16:creationId xmlns:a16="http://schemas.microsoft.com/office/drawing/2014/main" id="{2FBCA501-65B3-41DC-B01E-B2A27D540990}"/>
              </a:ext>
            </a:extLst>
          </p:cNvPr>
          <p:cNvSpPr txBox="1"/>
          <p:nvPr/>
        </p:nvSpPr>
        <p:spPr>
          <a:xfrm>
            <a:off x="-251367" y="8404481"/>
            <a:ext cx="6882623" cy="307777"/>
          </a:xfrm>
          <a:prstGeom prst="rect">
            <a:avLst/>
          </a:prstGeom>
          <a:noFill/>
        </p:spPr>
        <p:txBody>
          <a:bodyPr wrap="square" rtlCol="0">
            <a:spAutoFit/>
          </a:bodyPr>
          <a:lstStyle/>
          <a:p>
            <a:pPr algn="just"/>
            <a:endParaRPr lang="es-MX" sz="1400" dirty="0">
              <a:latin typeface="Arial" panose="020B0604020202020204" pitchFamily="34" charset="0"/>
              <a:cs typeface="Arial" panose="020B0604020202020204" pitchFamily="34" charset="0"/>
            </a:endParaRPr>
          </a:p>
        </p:txBody>
      </p:sp>
      <p:sp>
        <p:nvSpPr>
          <p:cNvPr id="7" name="Rectangle 1">
            <a:extLst>
              <a:ext uri="{FF2B5EF4-FFF2-40B4-BE49-F238E27FC236}">
                <a16:creationId xmlns:a16="http://schemas.microsoft.com/office/drawing/2014/main" id="{7A1FC596-0016-44AE-AF40-AD3B6FA20880}"/>
              </a:ext>
            </a:extLst>
          </p:cNvPr>
          <p:cNvSpPr>
            <a:spLocks noChangeArrowheads="1"/>
          </p:cNvSpPr>
          <p:nvPr/>
        </p:nvSpPr>
        <p:spPr bwMode="auto">
          <a:xfrm>
            <a:off x="170260" y="3482298"/>
            <a:ext cx="9610234"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s-MX" sz="1600" dirty="0">
                <a:latin typeface="Arial" panose="020B0604020202020204" pitchFamily="34" charset="0"/>
                <a:cs typeface="Arial" panose="020B0604020202020204" pitchFamily="34" charset="0"/>
              </a:rPr>
              <a:t>Seleccioné la petición </a:t>
            </a:r>
            <a:r>
              <a:rPr lang="es-MX" sz="1600" b="1" dirty="0">
                <a:latin typeface="Arial Black" panose="020B0A04020102020204" pitchFamily="34" charset="0"/>
                <a:cs typeface="Arial" panose="020B0604020202020204" pitchFamily="34" charset="0"/>
              </a:rPr>
              <a:t>PUT</a:t>
            </a:r>
            <a:r>
              <a:rPr lang="es-MX" sz="1600" dirty="0">
                <a:latin typeface="Arial" panose="020B0604020202020204" pitchFamily="34" charset="0"/>
                <a:cs typeface="Arial" panose="020B0604020202020204" pitchFamily="34" charset="0"/>
              </a:rPr>
              <a:t> Actualizar Estudiante dentro de la colección. Después modifiqué el número que aparece en la URL, colocando el ID del estudiante que necesitaba actualizar. Luego entré a la pestaña </a:t>
            </a:r>
            <a:r>
              <a:rPr lang="es-MX" sz="1600" dirty="0" err="1">
                <a:latin typeface="Arial" panose="020B0604020202020204" pitchFamily="34" charset="0"/>
                <a:cs typeface="Arial" panose="020B0604020202020204" pitchFamily="34" charset="0"/>
              </a:rPr>
              <a:t>Body</a:t>
            </a:r>
            <a:r>
              <a:rPr lang="es-MX" sz="1600" dirty="0">
                <a:latin typeface="Arial" panose="020B0604020202020204" pitchFamily="34" charset="0"/>
                <a:cs typeface="Arial" panose="020B0604020202020204" pitchFamily="34" charset="0"/>
              </a:rPr>
              <a:t> y pegué el JSON completo con la nueva información que se iba a guardar.</a:t>
            </a:r>
          </a:p>
          <a:p>
            <a:pPr algn="just"/>
            <a:r>
              <a:rPr lang="es-MX" sz="1600" dirty="0">
                <a:latin typeface="Arial" panose="020B0604020202020204" pitchFamily="34" charset="0"/>
                <a:cs typeface="Arial" panose="020B0604020202020204" pitchFamily="34" charset="0"/>
              </a:rPr>
              <a:t>Finalmente hice clic en </a:t>
            </a:r>
            <a:r>
              <a:rPr lang="es-MX" sz="1600" dirty="0" err="1">
                <a:latin typeface="Arial" panose="020B0604020202020204" pitchFamily="34" charset="0"/>
                <a:cs typeface="Arial" panose="020B0604020202020204" pitchFamily="34" charset="0"/>
              </a:rPr>
              <a:t>Send</a:t>
            </a:r>
            <a:r>
              <a:rPr lang="es-MX" sz="1600" dirty="0">
                <a:latin typeface="Arial" panose="020B0604020202020204" pitchFamily="34" charset="0"/>
                <a:cs typeface="Arial" panose="020B0604020202020204" pitchFamily="34" charset="0"/>
              </a:rPr>
              <a:t> y revisé que la respuesta mostrara el estado 200 OK, lo cual confirma que la actualización se realizó correctamente. En el resultado se pudo comprobar que el campo semestre cambió a 5 y que la dirección también fue modificada.</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400" dirty="0">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1D885874-8481-49CF-A827-B5A4F040EF05}"/>
              </a:ext>
            </a:extLst>
          </p:cNvPr>
          <p:cNvPicPr>
            <a:picLocks noChangeAspect="1"/>
          </p:cNvPicPr>
          <p:nvPr/>
        </p:nvPicPr>
        <p:blipFill>
          <a:blip r:embed="rId2"/>
          <a:stretch>
            <a:fillRect/>
          </a:stretch>
        </p:blipFill>
        <p:spPr>
          <a:xfrm>
            <a:off x="170260" y="165661"/>
            <a:ext cx="5692588" cy="2896697"/>
          </a:xfrm>
          <a:prstGeom prst="rect">
            <a:avLst/>
          </a:prstGeom>
        </p:spPr>
      </p:pic>
    </p:spTree>
    <p:extLst>
      <p:ext uri="{BB962C8B-B14F-4D97-AF65-F5344CB8AC3E}">
        <p14:creationId xmlns:p14="http://schemas.microsoft.com/office/powerpoint/2010/main" val="2905257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0D55B659-2F8E-4F9D-9918-EB7717C4FE5C}"/>
              </a:ext>
            </a:extLst>
          </p:cNvPr>
          <p:cNvSpPr>
            <a:spLocks noChangeArrowheads="1"/>
          </p:cNvSpPr>
          <p:nvPr/>
        </p:nvSpPr>
        <p:spPr bwMode="auto">
          <a:xfrm>
            <a:off x="439270" y="3675160"/>
            <a:ext cx="7548283" cy="2277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s-MX" sz="1600" dirty="0"/>
              <a:t>Seleccioné la petición </a:t>
            </a:r>
            <a:r>
              <a:rPr lang="es-MX" sz="1600" b="1" dirty="0">
                <a:latin typeface="Arial Black" panose="020B0A04020102020204" pitchFamily="34" charset="0"/>
              </a:rPr>
              <a:t>DELETE </a:t>
            </a:r>
            <a:r>
              <a:rPr lang="es-MX" sz="1600" dirty="0"/>
              <a:t>Eliminar Estudiante dentro de la colección. Después modifiqué el número de la URL colocando el ID del estudiante que deseaba borrar. Luego verifiqué que la pestaña </a:t>
            </a:r>
            <a:r>
              <a:rPr lang="es-MX" sz="1600" dirty="0" err="1"/>
              <a:t>Body</a:t>
            </a:r>
            <a:r>
              <a:rPr lang="es-MX" sz="1600" dirty="0"/>
              <a:t> estuviera vacía o en </a:t>
            </a:r>
            <a:r>
              <a:rPr lang="es-MX" sz="1600" dirty="0" err="1"/>
              <a:t>None</a:t>
            </a:r>
            <a:r>
              <a:rPr lang="es-MX" sz="1600" dirty="0"/>
              <a:t>, ya que para eliminar un registro no es necesario enviar información adicional.</a:t>
            </a:r>
          </a:p>
          <a:p>
            <a:pPr algn="just"/>
            <a:r>
              <a:rPr lang="es-MX" sz="1600" dirty="0"/>
              <a:t>Después hice clic en </a:t>
            </a:r>
            <a:r>
              <a:rPr lang="es-MX" sz="1600" dirty="0" err="1"/>
              <a:t>Send</a:t>
            </a:r>
            <a:r>
              <a:rPr lang="es-MX" sz="1600" dirty="0"/>
              <a:t> y revisé que la respuesta mostrara el estado 204 No Content, lo cual indica que el estudiante fue eliminado correctamente. Para confirmar la eliminación, ejecuté nuevamente la petición GET Listar Estudiantes y comprobé que el registro ya no aparecía en la lista.</a:t>
            </a:r>
          </a:p>
          <a:p>
            <a:pPr marL="0" marR="0" lvl="0" indent="0" algn="just" defTabSz="914400" rtl="0" eaLnBrk="0" fontAlgn="base" latinLnBrk="0" hangingPunct="0">
              <a:lnSpc>
                <a:spcPct val="100000"/>
              </a:lnSpc>
              <a:spcBef>
                <a:spcPct val="0"/>
              </a:spcBef>
              <a:spcAft>
                <a:spcPct val="0"/>
              </a:spcAft>
              <a:buClrTx/>
              <a:buSzTx/>
              <a:buFontTx/>
              <a:buNone/>
              <a:tabLst/>
            </a:pPr>
            <a:endParaRPr lang="es-MX" altLang="es-MX" sz="1400" dirty="0">
              <a:latin typeface="Arial" panose="020B0604020202020204" pitchFamily="34" charset="0"/>
              <a:cs typeface="Arial" panose="020B0604020202020204" pitchFamily="34" charset="0"/>
            </a:endParaRPr>
          </a:p>
        </p:txBody>
      </p:sp>
      <p:pic>
        <p:nvPicPr>
          <p:cNvPr id="6" name="Marcador de contenido 5">
            <a:extLst>
              <a:ext uri="{FF2B5EF4-FFF2-40B4-BE49-F238E27FC236}">
                <a16:creationId xmlns:a16="http://schemas.microsoft.com/office/drawing/2014/main" id="{6B0A1000-C385-4F31-AACA-25DEABE87FA3}"/>
              </a:ext>
            </a:extLst>
          </p:cNvPr>
          <p:cNvPicPr>
            <a:picLocks noGrp="1" noChangeAspect="1"/>
          </p:cNvPicPr>
          <p:nvPr>
            <p:ph idx="1"/>
          </p:nvPr>
        </p:nvPicPr>
        <p:blipFill>
          <a:blip r:embed="rId2"/>
          <a:stretch>
            <a:fillRect/>
          </a:stretch>
        </p:blipFill>
        <p:spPr>
          <a:xfrm>
            <a:off x="265649" y="170425"/>
            <a:ext cx="5919998" cy="3012416"/>
          </a:xfrm>
        </p:spPr>
      </p:pic>
    </p:spTree>
    <p:extLst>
      <p:ext uri="{BB962C8B-B14F-4D97-AF65-F5344CB8AC3E}">
        <p14:creationId xmlns:p14="http://schemas.microsoft.com/office/powerpoint/2010/main" val="2588736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67568F-B416-4EC8-A123-C4137E883C39}"/>
              </a:ext>
            </a:extLst>
          </p:cNvPr>
          <p:cNvSpPr>
            <a:spLocks noGrp="1"/>
          </p:cNvSpPr>
          <p:nvPr>
            <p:ph type="title"/>
          </p:nvPr>
        </p:nvSpPr>
        <p:spPr>
          <a:xfrm>
            <a:off x="76200" y="434586"/>
            <a:ext cx="9601200" cy="739588"/>
          </a:xfrm>
        </p:spPr>
        <p:txBody>
          <a:bodyPr/>
          <a:lstStyle/>
          <a:p>
            <a:pPr algn="ctr"/>
            <a:r>
              <a:rPr lang="es-MX" b="1" dirty="0">
                <a:solidFill>
                  <a:schemeClr val="tx1"/>
                </a:solidFill>
                <a:latin typeface="Arial" panose="020B0604020202020204" pitchFamily="34" charset="0"/>
                <a:cs typeface="Arial" panose="020B0604020202020204" pitchFamily="34" charset="0"/>
              </a:rPr>
              <a:t>CONCLUSION</a:t>
            </a:r>
            <a:r>
              <a:rPr lang="es-MX" b="1" dirty="0">
                <a:latin typeface="Arial" panose="020B0604020202020204" pitchFamily="34" charset="0"/>
                <a:cs typeface="Arial" panose="020B0604020202020204" pitchFamily="34" charset="0"/>
              </a:rPr>
              <a:t> </a:t>
            </a:r>
          </a:p>
        </p:txBody>
      </p:sp>
      <p:sp>
        <p:nvSpPr>
          <p:cNvPr id="3" name="Marcador de contenido 2">
            <a:extLst>
              <a:ext uri="{FF2B5EF4-FFF2-40B4-BE49-F238E27FC236}">
                <a16:creationId xmlns:a16="http://schemas.microsoft.com/office/drawing/2014/main" id="{BE31BA7C-11E4-40FD-81FC-916A162D92FA}"/>
              </a:ext>
            </a:extLst>
          </p:cNvPr>
          <p:cNvSpPr>
            <a:spLocks noGrp="1"/>
          </p:cNvSpPr>
          <p:nvPr>
            <p:ph idx="1"/>
          </p:nvPr>
        </p:nvSpPr>
        <p:spPr>
          <a:xfrm>
            <a:off x="304799" y="1638299"/>
            <a:ext cx="9278471" cy="4045527"/>
          </a:xfrm>
        </p:spPr>
        <p:txBody>
          <a:bodyPr>
            <a:normAutofit/>
          </a:bodyPr>
          <a:lstStyle/>
          <a:p>
            <a:pPr marL="0" indent="0" algn="just">
              <a:buNone/>
            </a:pPr>
            <a:r>
              <a:rPr lang="es-MX" sz="1600" dirty="0">
                <a:latin typeface="Arial" panose="020B0604020202020204" pitchFamily="34" charset="0"/>
                <a:cs typeface="Arial" panose="020B0604020202020204" pitchFamily="34" charset="0"/>
              </a:rPr>
              <a:t>Un microservicio es una parte de un sistema que se encarga de realizar funciones específicas, como guardar, consultar, modificar o eliminar información. En este caso, se trabajó con peticiones HTTP, que son la forma en que una aplicación se comunica con un servidor para pedirle que realice una acción. Para comprobar que todo funcionara correctamente, se utilizó la herramienta Bruno, la cual permite enviar solicitudes y revisar las respuestas del sistema. Esta actividad sirve para verificar que el microservicio responda bien y que cada operación cumpla con su función dentro del proyecto.</a:t>
            </a:r>
          </a:p>
        </p:txBody>
      </p:sp>
    </p:spTree>
    <p:extLst>
      <p:ext uri="{BB962C8B-B14F-4D97-AF65-F5344CB8AC3E}">
        <p14:creationId xmlns:p14="http://schemas.microsoft.com/office/powerpoint/2010/main" val="1277203283"/>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507</TotalTime>
  <Words>708</Words>
  <Application>Microsoft Office PowerPoint</Application>
  <PresentationFormat>Panorámica</PresentationFormat>
  <Paragraphs>24</Paragraphs>
  <Slides>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Arial</vt:lpstr>
      <vt:lpstr>Arial Black</vt:lpstr>
      <vt:lpstr>Trebuchet MS</vt:lpstr>
      <vt:lpstr>Wingdings 3</vt:lpstr>
      <vt:lpstr>Faceta</vt:lpstr>
      <vt:lpstr>Presentación de PowerPoint</vt:lpstr>
      <vt:lpstr>INTRODUCCIÓN </vt:lpstr>
      <vt:lpstr>JUSTIFICACION</vt:lpstr>
      <vt:lpstr>Presentación de PowerPoint</vt:lpstr>
      <vt:lpstr>Presentación de PowerPoint</vt:lpstr>
      <vt:lpstr>Presentación de PowerPoint</vt:lpstr>
      <vt:lpstr>Presentación de PowerPoint</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Belen</dc:creator>
  <cp:lastModifiedBy>Belen</cp:lastModifiedBy>
  <cp:revision>37</cp:revision>
  <dcterms:created xsi:type="dcterms:W3CDTF">2026-05-01T07:03:44Z</dcterms:created>
  <dcterms:modified xsi:type="dcterms:W3CDTF">2026-06-04T14:48:45Z</dcterms:modified>
</cp:coreProperties>
</file>
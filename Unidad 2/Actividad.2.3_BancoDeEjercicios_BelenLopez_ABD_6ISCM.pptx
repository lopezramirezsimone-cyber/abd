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11" r:id="rId1"/>
  </p:sldMasterIdLst>
  <p:sldIdLst>
    <p:sldId id="256" r:id="rId2"/>
    <p:sldId id="285" r:id="rId3"/>
    <p:sldId id="284" r:id="rId4"/>
    <p:sldId id="294" r:id="rId5"/>
    <p:sldId id="295" r:id="rId6"/>
    <p:sldId id="296" r:id="rId7"/>
    <p:sldId id="297" r:id="rId8"/>
    <p:sldId id="286"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107" autoAdjust="0"/>
    <p:restoredTop sz="94660"/>
  </p:normalViewPr>
  <p:slideViewPr>
    <p:cSldViewPr snapToGrid="0">
      <p:cViewPr varScale="1">
        <p:scale>
          <a:sx n="85" d="100"/>
          <a:sy n="85" d="100"/>
        </p:scale>
        <p:origin x="634"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rot="10800000">
              <a:off x="0" y="0"/>
              <a:ext cx="842596" cy="5666154"/>
            </a:xfrm>
            <a:prstGeom prst="triangle">
              <a:avLst>
                <a:gd name="adj" fmla="val 10000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lumMod val="75000"/>
                  </a:schemeClr>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smtClean="0"/>
              <a:pPr/>
              <a:t>5/30/2026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‹Nº›</a:t>
            </a:fld>
            <a:endParaRPr lang="en-US" dirty="0"/>
          </a:p>
        </p:txBody>
      </p:sp>
    </p:spTree>
    <p:extLst>
      <p:ext uri="{BB962C8B-B14F-4D97-AF65-F5344CB8AC3E}">
        <p14:creationId xmlns:p14="http://schemas.microsoft.com/office/powerpoint/2010/main" val="36593826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smtClean="0"/>
              <a:t>5/30/2026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t>‹Nº›</a:t>
            </a:fld>
            <a:endParaRPr lang="en-US" dirty="0"/>
          </a:p>
        </p:txBody>
      </p:sp>
    </p:spTree>
    <p:extLst>
      <p:ext uri="{BB962C8B-B14F-4D97-AF65-F5344CB8AC3E}">
        <p14:creationId xmlns:p14="http://schemas.microsoft.com/office/powerpoint/2010/main" val="10120537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87DE6118-2437-4B30-8E3C-4D2BE6020583}" type="datetimeFigureOut">
              <a:rPr lang="en-US" smtClean="0"/>
              <a:pPr/>
              <a:t>5/30/2026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‹Nº›</a:t>
            </a:fld>
            <a:endParaRPr lang="en-US" dirty="0"/>
          </a:p>
        </p:txBody>
      </p:sp>
    </p:spTree>
    <p:extLst>
      <p:ext uri="{BB962C8B-B14F-4D97-AF65-F5344CB8AC3E}">
        <p14:creationId xmlns:p14="http://schemas.microsoft.com/office/powerpoint/2010/main" val="29063189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87DE6118-2437-4B30-8E3C-4D2BE6020583}" type="datetimeFigureOut">
              <a:rPr lang="en-US" smtClean="0"/>
              <a:t>5/30/2026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smtClean="0"/>
              <a:t>‹Nº›</a:t>
            </a:fld>
            <a:endParaRPr lang="en-US" dirty="0"/>
          </a:p>
        </p:txBody>
      </p:sp>
    </p:spTree>
    <p:extLst>
      <p:ext uri="{BB962C8B-B14F-4D97-AF65-F5344CB8AC3E}">
        <p14:creationId xmlns:p14="http://schemas.microsoft.com/office/powerpoint/2010/main" val="37961879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87DE6118-2437-4B30-8E3C-4D2BE6020583}" type="datetimeFigureOut">
              <a:rPr lang="en-US" smtClean="0"/>
              <a:t>5/30/2026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smtClean="0"/>
              <a:t>‹Nº›</a:t>
            </a:fld>
            <a:endParaRPr lang="en-US" dirty="0"/>
          </a:p>
        </p:txBody>
      </p:sp>
    </p:spTree>
    <p:extLst>
      <p:ext uri="{BB962C8B-B14F-4D97-AF65-F5344CB8AC3E}">
        <p14:creationId xmlns:p14="http://schemas.microsoft.com/office/powerpoint/2010/main" val="3270657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87DE6118-2437-4B30-8E3C-4D2BE6020583}" type="datetimeFigureOut">
              <a:rPr lang="en-US" smtClean="0"/>
              <a:t>5/30/2026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smtClean="0"/>
              <a:t>‹Nº›</a:t>
            </a:fld>
            <a:endParaRPr lang="en-US" dirty="0"/>
          </a:p>
        </p:txBody>
      </p:sp>
    </p:spTree>
    <p:extLst>
      <p:ext uri="{BB962C8B-B14F-4D97-AF65-F5344CB8AC3E}">
        <p14:creationId xmlns:p14="http://schemas.microsoft.com/office/powerpoint/2010/main" val="38615946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DE6118-2437-4B30-8E3C-4D2BE6020583}" type="datetimeFigureOut">
              <a:rPr lang="en-US" smtClean="0"/>
              <a:t>5/30/2026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smtClean="0"/>
              <a:t>‹Nº›</a:t>
            </a:fld>
            <a:endParaRPr lang="en-US" dirty="0"/>
          </a:p>
        </p:txBody>
      </p:sp>
    </p:spTree>
    <p:extLst>
      <p:ext uri="{BB962C8B-B14F-4D97-AF65-F5344CB8AC3E}">
        <p14:creationId xmlns:p14="http://schemas.microsoft.com/office/powerpoint/2010/main" val="38710246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87DE6118-2437-4B30-8E3C-4D2BE6020583}" type="datetimeFigureOut">
              <a:rPr lang="en-US" smtClean="0"/>
              <a:pPr/>
              <a:t>5/30/2026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smtClean="0"/>
              <a:pPr/>
              <a:t>‹Nº›</a:t>
            </a:fld>
            <a:endParaRPr lang="en-US" dirty="0"/>
          </a:p>
        </p:txBody>
      </p:sp>
    </p:spTree>
    <p:extLst>
      <p:ext uri="{BB962C8B-B14F-4D97-AF65-F5344CB8AC3E}">
        <p14:creationId xmlns:p14="http://schemas.microsoft.com/office/powerpoint/2010/main" val="12315384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87DE6118-2437-4B30-8E3C-4D2BE6020583}" type="datetimeFigureOut">
              <a:rPr lang="en-US" smtClean="0"/>
              <a:pPr/>
              <a:t>5/30/2026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smtClean="0"/>
              <a:pPr/>
              <a:t>‹Nº›</a:t>
            </a:fld>
            <a:endParaRPr lang="en-US" dirty="0"/>
          </a:p>
        </p:txBody>
      </p:sp>
    </p:spTree>
    <p:extLst>
      <p:ext uri="{BB962C8B-B14F-4D97-AF65-F5344CB8AC3E}">
        <p14:creationId xmlns:p14="http://schemas.microsoft.com/office/powerpoint/2010/main" val="31439218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87DE6118-2437-4B30-8E3C-4D2BE6020583}" type="datetimeFigureOut">
              <a:rPr lang="en-US" smtClean="0"/>
              <a:pPr/>
              <a:t>5/30/2026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‹Nº›</a:t>
            </a:fld>
            <a:endParaRPr lang="en-US" dirty="0"/>
          </a:p>
        </p:txBody>
      </p:sp>
    </p:spTree>
    <p:extLst>
      <p:ext uri="{BB962C8B-B14F-4D97-AF65-F5344CB8AC3E}">
        <p14:creationId xmlns:p14="http://schemas.microsoft.com/office/powerpoint/2010/main" val="18816334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87DE6118-2437-4B30-8E3C-4D2BE6020583}" type="datetimeFigureOut">
              <a:rPr lang="en-US" smtClean="0"/>
              <a:pPr/>
              <a:t>5/30/2026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‹Nº›</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1610241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87DE6118-2437-4B30-8E3C-4D2BE6020583}" type="datetimeFigureOut">
              <a:rPr lang="en-US" smtClean="0"/>
              <a:pPr/>
              <a:t>5/30/2026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‹Nº›</a:t>
            </a:fld>
            <a:endParaRPr lang="en-US" dirty="0"/>
          </a:p>
        </p:txBody>
      </p:sp>
    </p:spTree>
    <p:extLst>
      <p:ext uri="{BB962C8B-B14F-4D97-AF65-F5344CB8AC3E}">
        <p14:creationId xmlns:p14="http://schemas.microsoft.com/office/powerpoint/2010/main" val="38958453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87DE6118-2437-4B30-8E3C-4D2BE6020583}" type="datetimeFigureOut">
              <a:rPr lang="en-US" smtClean="0"/>
              <a:pPr/>
              <a:t>5/30/2026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‹Nº›</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0336571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87DE6118-2437-4B30-8E3C-4D2BE6020583}" type="datetimeFigureOut">
              <a:rPr lang="en-US" smtClean="0"/>
              <a:pPr/>
              <a:t>5/30/2026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‹Nº›</a:t>
            </a:fld>
            <a:endParaRPr lang="en-US" dirty="0"/>
          </a:p>
        </p:txBody>
      </p:sp>
    </p:spTree>
    <p:extLst>
      <p:ext uri="{BB962C8B-B14F-4D97-AF65-F5344CB8AC3E}">
        <p14:creationId xmlns:p14="http://schemas.microsoft.com/office/powerpoint/2010/main" val="41576710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smtClean="0"/>
              <a:t>5/30/2026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t>‹Nº›</a:t>
            </a:fld>
            <a:endParaRPr lang="en-US" dirty="0"/>
          </a:p>
        </p:txBody>
      </p:sp>
    </p:spTree>
    <p:extLst>
      <p:ext uri="{BB962C8B-B14F-4D97-AF65-F5344CB8AC3E}">
        <p14:creationId xmlns:p14="http://schemas.microsoft.com/office/powerpoint/2010/main" val="35923518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smtClean="0"/>
              <a:t>5/30/2026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t>‹Nº›</a:t>
            </a:fld>
            <a:endParaRPr lang="en-US" dirty="0"/>
          </a:p>
        </p:txBody>
      </p:sp>
    </p:spTree>
    <p:extLst>
      <p:ext uri="{BB962C8B-B14F-4D97-AF65-F5344CB8AC3E}">
        <p14:creationId xmlns:p14="http://schemas.microsoft.com/office/powerpoint/2010/main" val="11011871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9" name="Group 28"/>
          <p:cNvGrpSpPr/>
          <p:nvPr/>
        </p:nvGrpSpPr>
        <p:grpSpPr>
          <a:xfrm>
            <a:off x="0" y="-8467"/>
            <a:ext cx="12192000" cy="6866467"/>
            <a:chOff x="0" y="-8467"/>
            <a:chExt cx="12192000" cy="6866467"/>
          </a:xfrm>
        </p:grpSpPr>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0" y="4013200"/>
              <a:ext cx="448733" cy="2844800"/>
            </a:xfrm>
            <a:prstGeom prst="triangle">
              <a:avLst>
                <a:gd name="adj" fmla="val 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87DE6118-2437-4B30-8E3C-4D2BE6020583}" type="datetimeFigureOut">
              <a:rPr lang="en-US" smtClean="0"/>
              <a:pPr/>
              <a:t>5/30/2026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lumMod val="75000"/>
                  </a:schemeClr>
                </a:solidFill>
              </a:defRPr>
            </a:lvl1pPr>
          </a:lstStyle>
          <a:p>
            <a:fld id="{69E57DC2-970A-4B3E-BB1C-7A09969E49DF}" type="slidenum">
              <a:rPr lang="en-US" smtClean="0"/>
              <a:pPr/>
              <a:t>‹Nº›</a:t>
            </a:fld>
            <a:endParaRPr lang="en-US" dirty="0"/>
          </a:p>
        </p:txBody>
      </p:sp>
    </p:spTree>
    <p:extLst>
      <p:ext uri="{BB962C8B-B14F-4D97-AF65-F5344CB8AC3E}">
        <p14:creationId xmlns:p14="http://schemas.microsoft.com/office/powerpoint/2010/main" val="2532622145"/>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 id="2147483724" r:id="rId13"/>
    <p:sldLayoutId id="2147483725" r:id="rId14"/>
    <p:sldLayoutId id="2147483726" r:id="rId15"/>
    <p:sldLayoutId id="2147483727" r:id="rId16"/>
  </p:sldLayoutIdLst>
  <p:txStyles>
    <p:titleStyle>
      <a:lvl1pPr algn="l" defTabSz="457200" rtl="0" eaLnBrk="1" latinLnBrk="0" hangingPunct="1">
        <a:spcBef>
          <a:spcPct val="0"/>
        </a:spcBef>
        <a:buNone/>
        <a:defRPr sz="3600" kern="1200">
          <a:solidFill>
            <a:schemeClr val="accent1">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lumMod val="75000"/>
          </a:schemeClr>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lumMod val="75000"/>
          </a:schemeClr>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8550C69D-BBBD-4F17-8133-94C6C7338196}"/>
              </a:ext>
            </a:extLst>
          </p:cNvPr>
          <p:cNvPicPr>
            <a:picLocks noChangeAspect="1"/>
          </p:cNvPicPr>
          <p:nvPr/>
        </p:nvPicPr>
        <p:blipFill rotWithShape="1">
          <a:blip r:embed="rId2"/>
          <a:srcRect l="6551" t="37365" r="5073"/>
          <a:stretch/>
        </p:blipFill>
        <p:spPr>
          <a:xfrm>
            <a:off x="868744" y="230771"/>
            <a:ext cx="8505389" cy="532799"/>
          </a:xfrm>
          <a:prstGeom prst="rect">
            <a:avLst/>
          </a:prstGeom>
        </p:spPr>
      </p:pic>
      <p:sp>
        <p:nvSpPr>
          <p:cNvPr id="6" name="CuadroTexto 5">
            <a:extLst>
              <a:ext uri="{FF2B5EF4-FFF2-40B4-BE49-F238E27FC236}">
                <a16:creationId xmlns:a16="http://schemas.microsoft.com/office/drawing/2014/main" id="{506993DB-65C9-450C-8724-028B67E627C7}"/>
              </a:ext>
            </a:extLst>
          </p:cNvPr>
          <p:cNvSpPr txBox="1"/>
          <p:nvPr/>
        </p:nvSpPr>
        <p:spPr>
          <a:xfrm>
            <a:off x="1273312" y="1197917"/>
            <a:ext cx="8005111" cy="4866717"/>
          </a:xfrm>
          <a:prstGeom prst="rect">
            <a:avLst/>
          </a:prstGeom>
          <a:noFill/>
        </p:spPr>
        <p:txBody>
          <a:bodyPr wrap="square" rtlCol="0">
            <a:spAutoFit/>
          </a:bodyPr>
          <a:lstStyle/>
          <a:p>
            <a:pPr marL="12700" marR="1219200" indent="-12700" algn="ctr">
              <a:lnSpc>
                <a:spcPct val="107000"/>
              </a:lnSpc>
              <a:spcAft>
                <a:spcPts val="1115"/>
              </a:spcAft>
            </a:pPr>
            <a:r>
              <a:rPr lang="es-MX" sz="1100" b="1" dirty="0">
                <a:solidFill>
                  <a:srgbClr val="000000"/>
                </a:solidFill>
                <a:effectLst/>
                <a:latin typeface="Arial" panose="020B0604020202020204" pitchFamily="34" charset="0"/>
                <a:ea typeface="Arial" panose="020B0604020202020204" pitchFamily="34" charset="0"/>
                <a:cs typeface="Arial" panose="020B0604020202020204" pitchFamily="34" charset="0"/>
              </a:rPr>
              <a:t>   </a:t>
            </a:r>
            <a:r>
              <a:rPr lang="es-MX" b="1" dirty="0">
                <a:solidFill>
                  <a:srgbClr val="000000"/>
                </a:solidFill>
                <a:effectLst/>
                <a:latin typeface="Arial" panose="020B0604020202020204" pitchFamily="34" charset="0"/>
                <a:ea typeface="Arial" panose="020B0604020202020204" pitchFamily="34" charset="0"/>
                <a:cs typeface="Arial" panose="020B0604020202020204" pitchFamily="34" charset="0"/>
              </a:rPr>
              <a:t>                    Instituto Tecnológico de Frontera Comalapa</a:t>
            </a:r>
          </a:p>
          <a:p>
            <a:pPr marL="12700" marR="1219200" indent="-12700" algn="ctr">
              <a:lnSpc>
                <a:spcPct val="107000"/>
              </a:lnSpc>
              <a:spcAft>
                <a:spcPts val="1115"/>
              </a:spcAft>
            </a:pPr>
            <a:r>
              <a:rPr lang="es-MX" b="1" dirty="0">
                <a:solidFill>
                  <a:srgbClr val="000000"/>
                </a:solidFill>
                <a:effectLst/>
                <a:latin typeface="Arial" panose="020B0604020202020204" pitchFamily="34" charset="0"/>
                <a:ea typeface="Arial" panose="020B0604020202020204" pitchFamily="34" charset="0"/>
                <a:cs typeface="Arial" panose="020B0604020202020204" pitchFamily="34" charset="0"/>
              </a:rPr>
              <a:t>           Modalidad :</a:t>
            </a:r>
            <a:r>
              <a:rPr lang="es-MX" dirty="0">
                <a:solidFill>
                  <a:srgbClr val="000000"/>
                </a:solidFill>
                <a:effectLst/>
                <a:latin typeface="Arial" panose="020B0604020202020204" pitchFamily="34" charset="0"/>
                <a:ea typeface="Arial" panose="020B0604020202020204" pitchFamily="34" charset="0"/>
                <a:cs typeface="Arial" panose="020B0604020202020204" pitchFamily="34" charset="0"/>
              </a:rPr>
              <a:t>Mixta </a:t>
            </a:r>
          </a:p>
          <a:p>
            <a:pPr marL="96520" marR="89535" indent="-6350" algn="ctr">
              <a:lnSpc>
                <a:spcPct val="107000"/>
              </a:lnSpc>
              <a:spcAft>
                <a:spcPts val="805"/>
              </a:spcAft>
            </a:pPr>
            <a:r>
              <a:rPr lang="es-MX" b="1" dirty="0">
                <a:solidFill>
                  <a:srgbClr val="000000"/>
                </a:solidFill>
                <a:effectLst/>
                <a:latin typeface="Arial" panose="020B0604020202020204" pitchFamily="34" charset="0"/>
                <a:ea typeface="Arial" panose="020B0604020202020204" pitchFamily="34" charset="0"/>
                <a:cs typeface="Arial" panose="020B0604020202020204" pitchFamily="34" charset="0"/>
              </a:rPr>
              <a:t>Materia: </a:t>
            </a:r>
            <a:r>
              <a:rPr lang="es-MX" dirty="0">
                <a:solidFill>
                  <a:srgbClr val="000000"/>
                </a:solidFill>
                <a:effectLst/>
                <a:latin typeface="Arial" panose="020B0604020202020204" pitchFamily="34" charset="0"/>
                <a:ea typeface="Arial" panose="020B0604020202020204" pitchFamily="34" charset="0"/>
                <a:cs typeface="Arial" panose="020B0604020202020204" pitchFamily="34" charset="0"/>
              </a:rPr>
              <a:t> Administración de base de datos  </a:t>
            </a:r>
          </a:p>
          <a:p>
            <a:pPr marL="96520" marR="89535" indent="-6350" algn="ctr">
              <a:lnSpc>
                <a:spcPct val="107000"/>
              </a:lnSpc>
              <a:spcAft>
                <a:spcPts val="805"/>
              </a:spcAft>
            </a:pPr>
            <a:r>
              <a:rPr lang="es-MX" b="1" dirty="0">
                <a:solidFill>
                  <a:srgbClr val="000000"/>
                </a:solidFill>
                <a:effectLst/>
                <a:latin typeface="Arial" panose="020B0604020202020204" pitchFamily="34" charset="0"/>
                <a:ea typeface="Arial" panose="020B0604020202020204" pitchFamily="34" charset="0"/>
                <a:cs typeface="Arial" panose="020B0604020202020204" pitchFamily="34" charset="0"/>
              </a:rPr>
              <a:t>Semestre: </a:t>
            </a:r>
            <a:r>
              <a:rPr lang="es-MX" dirty="0">
                <a:solidFill>
                  <a:srgbClr val="000000"/>
                </a:solidFill>
                <a:effectLst/>
                <a:latin typeface="Arial" panose="020B0604020202020204" pitchFamily="34" charset="0"/>
                <a:ea typeface="Arial" panose="020B0604020202020204" pitchFamily="34" charset="0"/>
                <a:cs typeface="Arial" panose="020B0604020202020204" pitchFamily="34" charset="0"/>
              </a:rPr>
              <a:t>Sexto semestre </a:t>
            </a:r>
          </a:p>
          <a:p>
            <a:pPr marL="96520" marR="89535" indent="-6350" algn="ctr">
              <a:lnSpc>
                <a:spcPct val="107000"/>
              </a:lnSpc>
              <a:spcAft>
                <a:spcPts val="805"/>
              </a:spcAft>
            </a:pPr>
            <a:r>
              <a:rPr lang="es-MX" b="1" dirty="0">
                <a:solidFill>
                  <a:srgbClr val="000000"/>
                </a:solidFill>
                <a:effectLst/>
                <a:latin typeface="Arial" panose="020B0604020202020204" pitchFamily="34" charset="0"/>
                <a:ea typeface="Arial" panose="020B0604020202020204" pitchFamily="34" charset="0"/>
                <a:cs typeface="Arial" panose="020B0604020202020204" pitchFamily="34" charset="0"/>
              </a:rPr>
              <a:t>Especialidad:</a:t>
            </a:r>
            <a:r>
              <a:rPr lang="es-MX" dirty="0">
                <a:solidFill>
                  <a:srgbClr val="000000"/>
                </a:solidFill>
                <a:effectLst/>
                <a:latin typeface="Arial" panose="020B0604020202020204" pitchFamily="34" charset="0"/>
                <a:ea typeface="Arial" panose="020B0604020202020204" pitchFamily="34" charset="0"/>
                <a:cs typeface="Arial" panose="020B0604020202020204" pitchFamily="34" charset="0"/>
              </a:rPr>
              <a:t> Ingeniería en Sistemas Computacionales.  </a:t>
            </a:r>
          </a:p>
          <a:p>
            <a:pPr marL="96520" marR="89535" indent="-6350" algn="ctr">
              <a:lnSpc>
                <a:spcPct val="107000"/>
              </a:lnSpc>
              <a:spcAft>
                <a:spcPts val="805"/>
              </a:spcAft>
            </a:pPr>
            <a:r>
              <a:rPr lang="es-MX" b="1" dirty="0">
                <a:solidFill>
                  <a:srgbClr val="000000"/>
                </a:solidFill>
                <a:effectLst/>
                <a:latin typeface="Arial" panose="020B0604020202020204" pitchFamily="34" charset="0"/>
                <a:ea typeface="Arial" panose="020B0604020202020204" pitchFamily="34" charset="0"/>
                <a:cs typeface="Arial" panose="020B0604020202020204" pitchFamily="34" charset="0"/>
              </a:rPr>
              <a:t>Numero de control: </a:t>
            </a:r>
            <a:r>
              <a:rPr lang="es-MX" dirty="0">
                <a:solidFill>
                  <a:srgbClr val="000000"/>
                </a:solidFill>
                <a:effectLst/>
                <a:latin typeface="Arial" panose="020B0604020202020204" pitchFamily="34" charset="0"/>
                <a:ea typeface="Arial" panose="020B0604020202020204" pitchFamily="34" charset="0"/>
                <a:cs typeface="Arial" panose="020B0604020202020204" pitchFamily="34" charset="0"/>
              </a:rPr>
              <a:t> 231260010  </a:t>
            </a:r>
            <a:endParaRPr lang="es-MX" dirty="0">
              <a:solidFill>
                <a:srgbClr val="000000"/>
              </a:solidFill>
              <a:latin typeface="Arial" panose="020B0604020202020204" pitchFamily="34" charset="0"/>
              <a:ea typeface="Arial" panose="020B0604020202020204" pitchFamily="34" charset="0"/>
              <a:cs typeface="Arial" panose="020B0604020202020204" pitchFamily="34" charset="0"/>
            </a:endParaRPr>
          </a:p>
          <a:p>
            <a:pPr marL="96520" marR="89535" indent="-6350" algn="ctr">
              <a:lnSpc>
                <a:spcPct val="107000"/>
              </a:lnSpc>
              <a:spcAft>
                <a:spcPts val="805"/>
              </a:spcAft>
            </a:pPr>
            <a:r>
              <a:rPr lang="es-MX" b="1" dirty="0">
                <a:solidFill>
                  <a:srgbClr val="000000"/>
                </a:solidFill>
                <a:effectLst/>
                <a:latin typeface="Arial" panose="020B0604020202020204" pitchFamily="34" charset="0"/>
                <a:ea typeface="Arial" panose="020B0604020202020204" pitchFamily="34" charset="0"/>
                <a:cs typeface="Arial" panose="020B0604020202020204" pitchFamily="34" charset="0"/>
              </a:rPr>
              <a:t>Nombre del alumno:</a:t>
            </a:r>
            <a:r>
              <a:rPr lang="es-MX" dirty="0">
                <a:solidFill>
                  <a:srgbClr val="000000"/>
                </a:solidFill>
                <a:effectLst/>
                <a:latin typeface="Arial" panose="020B0604020202020204" pitchFamily="34" charset="0"/>
                <a:ea typeface="Arial" panose="020B0604020202020204" pitchFamily="34" charset="0"/>
                <a:cs typeface="Arial" panose="020B0604020202020204" pitchFamily="34" charset="0"/>
              </a:rPr>
              <a:t>  Simone Belén López Ramírez</a:t>
            </a:r>
            <a:r>
              <a:rPr lang="es-MX" b="1" dirty="0">
                <a:solidFill>
                  <a:srgbClr val="000000"/>
                </a:solidFill>
                <a:effectLst/>
                <a:latin typeface="Arial" panose="020B0604020202020204" pitchFamily="34" charset="0"/>
                <a:ea typeface="Arial" panose="020B0604020202020204" pitchFamily="34" charset="0"/>
                <a:cs typeface="Arial" panose="020B0604020202020204" pitchFamily="34" charset="0"/>
              </a:rPr>
              <a:t> </a:t>
            </a:r>
            <a:endParaRPr lang="es-MX" dirty="0">
              <a:solidFill>
                <a:srgbClr val="000000"/>
              </a:solidFill>
              <a:latin typeface="Arial" panose="020B0604020202020204" pitchFamily="34" charset="0"/>
              <a:ea typeface="Arial" panose="020B0604020202020204" pitchFamily="34" charset="0"/>
              <a:cs typeface="Arial" panose="020B0604020202020204" pitchFamily="34" charset="0"/>
            </a:endParaRPr>
          </a:p>
          <a:p>
            <a:pPr marL="96520" marR="89535" indent="-6350" algn="ctr">
              <a:lnSpc>
                <a:spcPct val="107000"/>
              </a:lnSpc>
              <a:spcAft>
                <a:spcPts val="805"/>
              </a:spcAft>
            </a:pPr>
            <a:r>
              <a:rPr lang="es-MX" b="1" dirty="0">
                <a:solidFill>
                  <a:srgbClr val="000000"/>
                </a:solidFill>
                <a:effectLst/>
                <a:latin typeface="Arial" panose="020B0604020202020204" pitchFamily="34" charset="0"/>
                <a:ea typeface="Arial" panose="020B0604020202020204" pitchFamily="34" charset="0"/>
                <a:cs typeface="Arial" panose="020B0604020202020204" pitchFamily="34" charset="0"/>
              </a:rPr>
              <a:t>Nombre del docente:</a:t>
            </a:r>
            <a:r>
              <a:rPr lang="es-MX" dirty="0">
                <a:solidFill>
                  <a:srgbClr val="000000"/>
                </a:solidFill>
                <a:effectLst/>
                <a:latin typeface="Arial" panose="020B0604020202020204" pitchFamily="34" charset="0"/>
                <a:ea typeface="Arial" panose="020B0604020202020204" pitchFamily="34" charset="0"/>
                <a:cs typeface="Arial" panose="020B0604020202020204" pitchFamily="34" charset="0"/>
              </a:rPr>
              <a:t>Ing.Francisco Javier Mingo Velásquez</a:t>
            </a:r>
          </a:p>
          <a:p>
            <a:pPr marL="12700" marR="881380" indent="-12700" algn="ctr">
              <a:lnSpc>
                <a:spcPct val="157000"/>
              </a:lnSpc>
              <a:spcAft>
                <a:spcPts val="1390"/>
              </a:spcAft>
            </a:pPr>
            <a:r>
              <a:rPr lang="es-MX" b="1" dirty="0">
                <a:solidFill>
                  <a:srgbClr val="000000"/>
                </a:solidFill>
                <a:effectLst/>
                <a:latin typeface="Arial" panose="020B0604020202020204" pitchFamily="34" charset="0"/>
                <a:ea typeface="Arial" panose="020B0604020202020204" pitchFamily="34" charset="0"/>
                <a:cs typeface="Arial" panose="020B0604020202020204" pitchFamily="34" charset="0"/>
              </a:rPr>
              <a:t>                     Nombre del trabajo:2.3 </a:t>
            </a:r>
            <a:r>
              <a:rPr lang="es-MX" dirty="0">
                <a:solidFill>
                  <a:srgbClr val="000000"/>
                </a:solidFill>
                <a:effectLst/>
                <a:latin typeface="Arial" panose="020B0604020202020204" pitchFamily="34" charset="0"/>
                <a:ea typeface="Arial" panose="020B0604020202020204" pitchFamily="34" charset="0"/>
                <a:cs typeface="Arial" panose="020B0604020202020204" pitchFamily="34" charset="0"/>
              </a:rPr>
              <a:t>Banco de ejercicios  </a:t>
            </a:r>
          </a:p>
          <a:p>
            <a:pPr marL="12700" marR="881380" indent="-12700" algn="ctr">
              <a:lnSpc>
                <a:spcPct val="157000"/>
              </a:lnSpc>
              <a:spcAft>
                <a:spcPts val="1390"/>
              </a:spcAft>
            </a:pPr>
            <a:r>
              <a:rPr lang="es-MX" b="1" dirty="0">
                <a:solidFill>
                  <a:srgbClr val="000000"/>
                </a:solidFill>
                <a:effectLst/>
                <a:latin typeface="Arial" panose="020B0604020202020204" pitchFamily="34" charset="0"/>
                <a:ea typeface="Arial" panose="020B0604020202020204" pitchFamily="34" charset="0"/>
                <a:cs typeface="Arial" panose="020B0604020202020204" pitchFamily="34" charset="0"/>
              </a:rPr>
              <a:t>Fecha de entrega</a:t>
            </a:r>
            <a:r>
              <a:rPr lang="es-MX" dirty="0">
                <a:solidFill>
                  <a:srgbClr val="000000"/>
                </a:solidFill>
                <a:effectLst/>
                <a:latin typeface="Arial" panose="020B0604020202020204" pitchFamily="34" charset="0"/>
                <a:ea typeface="Arial" panose="020B0604020202020204" pitchFamily="34" charset="0"/>
                <a:cs typeface="Arial" panose="020B0604020202020204" pitchFamily="34" charset="0"/>
              </a:rPr>
              <a:t>:</a:t>
            </a:r>
          </a:p>
          <a:p>
            <a:pPr algn="ctr"/>
            <a:r>
              <a:rPr lang="es-MX" dirty="0">
                <a:solidFill>
                  <a:srgbClr val="000000"/>
                </a:solidFill>
                <a:effectLst/>
                <a:latin typeface="Arial" panose="020B0604020202020204" pitchFamily="34" charset="0"/>
                <a:ea typeface="Arial" panose="020B0604020202020204" pitchFamily="34" charset="0"/>
                <a:cs typeface="Arial" panose="020B0604020202020204" pitchFamily="34" charset="0"/>
              </a:rPr>
              <a:t>Frontera Comalapa , Chiapas a 07</a:t>
            </a:r>
            <a:r>
              <a:rPr lang="es-MX" dirty="0">
                <a:solidFill>
                  <a:srgbClr val="000000"/>
                </a:solidFill>
                <a:latin typeface="Arial" panose="020B0604020202020204" pitchFamily="34" charset="0"/>
                <a:ea typeface="Arial" panose="020B0604020202020204" pitchFamily="34" charset="0"/>
                <a:cs typeface="Arial" panose="020B0604020202020204" pitchFamily="34" charset="0"/>
              </a:rPr>
              <a:t>/05/</a:t>
            </a:r>
            <a:r>
              <a:rPr lang="es-MX" dirty="0">
                <a:solidFill>
                  <a:srgbClr val="000000"/>
                </a:solidFill>
                <a:effectLst/>
                <a:latin typeface="Arial" panose="020B0604020202020204" pitchFamily="34" charset="0"/>
                <a:ea typeface="Arial" panose="020B0604020202020204" pitchFamily="34" charset="0"/>
                <a:cs typeface="Arial" panose="020B0604020202020204" pitchFamily="34" charset="0"/>
              </a:rPr>
              <a:t>2026 </a:t>
            </a:r>
            <a:endParaRPr lang="es-MX"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898689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824523B-31FB-4F59-A12E-EF01687EC1E2}"/>
              </a:ext>
            </a:extLst>
          </p:cNvPr>
          <p:cNvSpPr>
            <a:spLocks noGrp="1"/>
          </p:cNvSpPr>
          <p:nvPr>
            <p:ph type="title"/>
          </p:nvPr>
        </p:nvSpPr>
        <p:spPr/>
        <p:txBody>
          <a:bodyPr>
            <a:normAutofit/>
          </a:bodyPr>
          <a:lstStyle/>
          <a:p>
            <a:pPr algn="ctr"/>
            <a:r>
              <a:rPr lang="es-MX" sz="4000" b="1" dirty="0">
                <a:solidFill>
                  <a:schemeClr val="tx1"/>
                </a:solidFill>
                <a:latin typeface="Arial" panose="020B0604020202020204" pitchFamily="34" charset="0"/>
                <a:cs typeface="Arial" panose="020B0604020202020204" pitchFamily="34" charset="0"/>
              </a:rPr>
              <a:t>INTRODUCCIÓN </a:t>
            </a:r>
          </a:p>
        </p:txBody>
      </p:sp>
      <p:sp>
        <p:nvSpPr>
          <p:cNvPr id="3" name="Marcador de contenido 2">
            <a:extLst>
              <a:ext uri="{FF2B5EF4-FFF2-40B4-BE49-F238E27FC236}">
                <a16:creationId xmlns:a16="http://schemas.microsoft.com/office/drawing/2014/main" id="{51BB4FFF-1A44-44B7-B117-1B035ACBAA68}"/>
              </a:ext>
            </a:extLst>
          </p:cNvPr>
          <p:cNvSpPr>
            <a:spLocks noGrp="1"/>
          </p:cNvSpPr>
          <p:nvPr>
            <p:ph idx="1"/>
          </p:nvPr>
        </p:nvSpPr>
        <p:spPr>
          <a:xfrm>
            <a:off x="959223" y="1828800"/>
            <a:ext cx="8516471" cy="3581400"/>
          </a:xfrm>
        </p:spPr>
        <p:txBody>
          <a:bodyPr>
            <a:normAutofit lnSpcReduction="10000"/>
          </a:bodyPr>
          <a:lstStyle/>
          <a:p>
            <a:pPr marL="0" indent="0" algn="just">
              <a:buNone/>
            </a:pPr>
            <a:r>
              <a:rPr lang="es-MX" dirty="0">
                <a:latin typeface="Arial" panose="020B0604020202020204" pitchFamily="34" charset="0"/>
                <a:cs typeface="Arial" panose="020B0604020202020204" pitchFamily="34" charset="0"/>
              </a:rPr>
              <a:t>La configuración y administración del espacio en disco es un tema importante dentro de la administración de bases de datos, ya que permite organizar de manera correcta el almacenamiento donde se guarda la información. En una base de datos no solo se almacenan datos, también se guardan tablas, índices, respaldos, archivos internos, registros de operaciones y otros elementos necesarios para su funcionamiento.</a:t>
            </a:r>
          </a:p>
          <a:p>
            <a:pPr marL="0" indent="0" algn="just">
              <a:buNone/>
            </a:pPr>
            <a:r>
              <a:rPr lang="es-MX" dirty="0">
                <a:latin typeface="Arial" panose="020B0604020202020204" pitchFamily="34" charset="0"/>
                <a:cs typeface="Arial" panose="020B0604020202020204" pitchFamily="34" charset="0"/>
              </a:rPr>
              <a:t>Por medio de este tema se puede comprender cómo se asigna el espacio para cada base de datos, cómo se controlan las cuotas de los usuarios, cómo se organizan los objetos y cómo se manejan los roles dentro del sistema. Todo esto ayuda a que la base de datos trabaje de forma más ordenada, segura y eficiente. Por ello, en este trabajo se explica la importancia de administrar correctamente el espacio en disco para evitar problemas como saturación, lentitud, errores al guardar información o accesos no autorizados.</a:t>
            </a:r>
          </a:p>
          <a:p>
            <a:pPr marL="0" indent="0" algn="just">
              <a:buNone/>
            </a:pPr>
            <a:endParaRPr lang="es-MX"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932581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45FD57D-AB14-423D-8CD4-7A9E7BE99C6C}"/>
              </a:ext>
            </a:extLst>
          </p:cNvPr>
          <p:cNvSpPr>
            <a:spLocks noGrp="1"/>
          </p:cNvSpPr>
          <p:nvPr>
            <p:ph type="title"/>
          </p:nvPr>
        </p:nvSpPr>
        <p:spPr>
          <a:xfrm>
            <a:off x="295836" y="506506"/>
            <a:ext cx="9601200" cy="802341"/>
          </a:xfrm>
        </p:spPr>
        <p:txBody>
          <a:bodyPr/>
          <a:lstStyle/>
          <a:p>
            <a:pPr algn="ctr"/>
            <a:r>
              <a:rPr lang="es-MX" b="1" dirty="0">
                <a:solidFill>
                  <a:schemeClr val="tx1"/>
                </a:solidFill>
                <a:latin typeface="Arial" panose="020B0604020202020204" pitchFamily="34" charset="0"/>
                <a:cs typeface="Arial" panose="020B0604020202020204" pitchFamily="34" charset="0"/>
              </a:rPr>
              <a:t>JUSTIFICACION</a:t>
            </a:r>
          </a:p>
        </p:txBody>
      </p:sp>
      <p:sp>
        <p:nvSpPr>
          <p:cNvPr id="4" name="Rectangle 1">
            <a:extLst>
              <a:ext uri="{FF2B5EF4-FFF2-40B4-BE49-F238E27FC236}">
                <a16:creationId xmlns:a16="http://schemas.microsoft.com/office/drawing/2014/main" id="{48812A74-E031-4538-8BA8-F383D1D98685}"/>
              </a:ext>
            </a:extLst>
          </p:cNvPr>
          <p:cNvSpPr>
            <a:spLocks noGrp="1" noChangeArrowheads="1"/>
          </p:cNvSpPr>
          <p:nvPr>
            <p:ph idx="1"/>
          </p:nvPr>
        </p:nvSpPr>
        <p:spPr bwMode="auto">
          <a:xfrm>
            <a:off x="555811" y="2807128"/>
            <a:ext cx="851647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br>
              <a:rPr kumimoji="0" lang="es-MX" altLang="es-MX" sz="1400" b="0" i="0" u="none" strike="noStrike" cap="none" normalizeH="0" baseline="0" dirty="0">
                <a:ln>
                  <a:noFill/>
                </a:ln>
                <a:solidFill>
                  <a:schemeClr val="tx1"/>
                </a:solidFill>
                <a:effectLst/>
                <a:latin typeface="Arial" panose="020B0604020202020204" pitchFamily="34" charset="0"/>
              </a:rPr>
            </a:br>
            <a:endParaRPr kumimoji="0" lang="es-MX" altLang="es-MX" sz="1400" b="0" i="0" u="none" strike="noStrike" cap="none" normalizeH="0" baseline="0" dirty="0">
              <a:ln>
                <a:noFill/>
              </a:ln>
              <a:solidFill>
                <a:schemeClr val="tx1"/>
              </a:solidFill>
              <a:effectLst/>
              <a:latin typeface="Arial" panose="020B0604020202020204" pitchFamily="34" charset="0"/>
            </a:endParaRPr>
          </a:p>
        </p:txBody>
      </p:sp>
      <p:sp>
        <p:nvSpPr>
          <p:cNvPr id="3" name="CuadroTexto 2">
            <a:extLst>
              <a:ext uri="{FF2B5EF4-FFF2-40B4-BE49-F238E27FC236}">
                <a16:creationId xmlns:a16="http://schemas.microsoft.com/office/drawing/2014/main" id="{04D9E80A-2846-41F9-872E-FFC4C7274050}"/>
              </a:ext>
            </a:extLst>
          </p:cNvPr>
          <p:cNvSpPr txBox="1"/>
          <p:nvPr/>
        </p:nvSpPr>
        <p:spPr>
          <a:xfrm>
            <a:off x="484094" y="1586753"/>
            <a:ext cx="9063317" cy="2831544"/>
          </a:xfrm>
          <a:prstGeom prst="rect">
            <a:avLst/>
          </a:prstGeom>
          <a:noFill/>
        </p:spPr>
        <p:txBody>
          <a:bodyPr wrap="square" rtlCol="0">
            <a:spAutoFit/>
          </a:bodyPr>
          <a:lstStyle/>
          <a:p>
            <a:pPr algn="just"/>
            <a:r>
              <a:rPr lang="es-MX" sz="1600" dirty="0"/>
              <a:t>Este trabajo es importante porque permite reforzar los conocimientos sobre la administración del almacenamiento dentro de una base de datos. En cualquier sistema gestor, el espacio en disco debe ser controlado correctamente para evitar que la información se guarde de forma desordenada o que el sistema presente fallas por falta de espacio.</a:t>
            </a:r>
          </a:p>
          <a:p>
            <a:pPr algn="just"/>
            <a:r>
              <a:rPr lang="es-MX" sz="1600" dirty="0"/>
              <a:t>Además, conocer cómo se asignan cuotas a los usuarios y cómo se organizan los objetos de la base de datos ayuda a mantener un mejor control sobre los recursos disponibles. También es necesario comprender el uso de roles, ya que estos permiten definir qué permisos tiene cada usuario y ayudan a proteger la información almacenada. Por esta razón, estudiar este tema es útil para aprender a prevenir errores, mejorar el rendimiento de la base de datos y aplicar buenas prácticas dentro de un entorno real de trabajo.</a:t>
            </a:r>
          </a:p>
          <a:p>
            <a:endParaRPr lang="es-MX" dirty="0"/>
          </a:p>
        </p:txBody>
      </p:sp>
    </p:spTree>
    <p:extLst>
      <p:ext uri="{BB962C8B-B14F-4D97-AF65-F5344CB8AC3E}">
        <p14:creationId xmlns:p14="http://schemas.microsoft.com/office/powerpoint/2010/main" val="30714301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Marcador de contenido 10">
            <a:extLst>
              <a:ext uri="{FF2B5EF4-FFF2-40B4-BE49-F238E27FC236}">
                <a16:creationId xmlns:a16="http://schemas.microsoft.com/office/drawing/2014/main" id="{96EF10E6-02A1-493A-9106-DDD354E35B76}"/>
              </a:ext>
            </a:extLst>
          </p:cNvPr>
          <p:cNvPicPr>
            <a:picLocks noGrp="1" noChangeAspect="1"/>
          </p:cNvPicPr>
          <p:nvPr>
            <p:ph idx="1"/>
          </p:nvPr>
        </p:nvPicPr>
        <p:blipFill>
          <a:blip r:embed="rId2"/>
          <a:stretch>
            <a:fillRect/>
          </a:stretch>
        </p:blipFill>
        <p:spPr>
          <a:xfrm>
            <a:off x="138129" y="152495"/>
            <a:ext cx="6666082" cy="3392064"/>
          </a:xfrm>
        </p:spPr>
      </p:pic>
      <p:sp>
        <p:nvSpPr>
          <p:cNvPr id="12" name="Rectangle 1">
            <a:extLst>
              <a:ext uri="{FF2B5EF4-FFF2-40B4-BE49-F238E27FC236}">
                <a16:creationId xmlns:a16="http://schemas.microsoft.com/office/drawing/2014/main" id="{E8A6BDBE-BABA-4BF8-B4AC-6FB09A47ECCB}"/>
              </a:ext>
            </a:extLst>
          </p:cNvPr>
          <p:cNvSpPr>
            <a:spLocks noChangeArrowheads="1"/>
          </p:cNvSpPr>
          <p:nvPr/>
        </p:nvSpPr>
        <p:spPr bwMode="auto">
          <a:xfrm>
            <a:off x="230426" y="3778903"/>
            <a:ext cx="9481000"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s-MX" altLang="es-MX" dirty="0"/>
              <a:t>Pasos en Bruno:</a:t>
            </a:r>
            <a:br>
              <a:rPr lang="es-MX" altLang="es-MX" dirty="0"/>
            </a:br>
            <a:r>
              <a:rPr lang="es-MX" altLang="es-MX" dirty="0"/>
              <a:t>Primero seleccioné la petición GET Listar Estudiantes dentro de la colección. Después revisé que la URL estuviera escrita correctamente con la ruta </a:t>
            </a:r>
            <a:r>
              <a:rPr lang="es-MX" altLang="es-MX" dirty="0" err="1"/>
              <a:t>baseUrl</a:t>
            </a:r>
            <a:r>
              <a:rPr lang="es-MX" altLang="es-MX" dirty="0"/>
              <a:t>/trabajadores. Luego confirmé que la pestaña </a:t>
            </a:r>
            <a:r>
              <a:rPr lang="es-MX" altLang="es-MX" dirty="0" err="1"/>
              <a:t>Body</a:t>
            </a:r>
            <a:r>
              <a:rPr lang="es-MX" altLang="es-MX" dirty="0"/>
              <a:t> estuviera vacía, ya que para una consulta de tipo GET no es necesario enviar datos. Finalmente presioné el botón </a:t>
            </a:r>
            <a:r>
              <a:rPr lang="es-MX" altLang="es-MX" dirty="0" err="1"/>
              <a:t>Send</a:t>
            </a:r>
            <a:r>
              <a:rPr lang="es-MX" altLang="es-MX" dirty="0"/>
              <a:t> y verifiqué en la parte inferior que la respuesta del servidor mostrara el estado 200 OK, lo cual indica que la petición se ejecutó correctamente. </a:t>
            </a:r>
          </a:p>
        </p:txBody>
      </p:sp>
    </p:spTree>
    <p:extLst>
      <p:ext uri="{BB962C8B-B14F-4D97-AF65-F5344CB8AC3E}">
        <p14:creationId xmlns:p14="http://schemas.microsoft.com/office/powerpoint/2010/main" val="8755396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contenido 4">
            <a:extLst>
              <a:ext uri="{FF2B5EF4-FFF2-40B4-BE49-F238E27FC236}">
                <a16:creationId xmlns:a16="http://schemas.microsoft.com/office/drawing/2014/main" id="{F94F922F-F3F2-4875-AB1A-C0A91B1DC962}"/>
              </a:ext>
            </a:extLst>
          </p:cNvPr>
          <p:cNvPicPr>
            <a:picLocks noGrp="1" noChangeAspect="1"/>
          </p:cNvPicPr>
          <p:nvPr>
            <p:ph idx="1"/>
          </p:nvPr>
        </p:nvPicPr>
        <p:blipFill>
          <a:blip r:embed="rId2"/>
          <a:stretch>
            <a:fillRect/>
          </a:stretch>
        </p:blipFill>
        <p:spPr>
          <a:xfrm>
            <a:off x="77390" y="5549"/>
            <a:ext cx="7064407" cy="3594753"/>
          </a:xfrm>
        </p:spPr>
      </p:pic>
      <p:sp>
        <p:nvSpPr>
          <p:cNvPr id="7" name="Rectangle 1">
            <a:extLst>
              <a:ext uri="{FF2B5EF4-FFF2-40B4-BE49-F238E27FC236}">
                <a16:creationId xmlns:a16="http://schemas.microsoft.com/office/drawing/2014/main" id="{5452AB30-1E04-466E-9356-88B2D3815CD6}"/>
              </a:ext>
            </a:extLst>
          </p:cNvPr>
          <p:cNvSpPr>
            <a:spLocks noChangeArrowheads="1"/>
          </p:cNvSpPr>
          <p:nvPr/>
        </p:nvSpPr>
        <p:spPr bwMode="auto">
          <a:xfrm>
            <a:off x="340440" y="3744433"/>
            <a:ext cx="9251796"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br>
              <a:rPr lang="es-MX" altLang="es-MX" sz="1600" dirty="0">
                <a:latin typeface="Arial" panose="020B0604020202020204" pitchFamily="34" charset="0"/>
                <a:cs typeface="Arial" panose="020B0604020202020204" pitchFamily="34" charset="0"/>
              </a:rPr>
            </a:br>
            <a:r>
              <a:rPr lang="es-MX" altLang="es-MX" sz="1600" dirty="0">
                <a:latin typeface="Arial" panose="020B0604020202020204" pitchFamily="34" charset="0"/>
                <a:cs typeface="Arial" panose="020B0604020202020204" pitchFamily="34" charset="0"/>
              </a:rPr>
              <a:t>Seleccioné la petición POST Registrar Estudiante dentro de la colección. Después entré a la pestaña </a:t>
            </a:r>
            <a:r>
              <a:rPr lang="es-MX" altLang="es-MX" sz="1600" dirty="0" err="1">
                <a:latin typeface="Arial" panose="020B0604020202020204" pitchFamily="34" charset="0"/>
                <a:cs typeface="Arial" panose="020B0604020202020204" pitchFamily="34" charset="0"/>
              </a:rPr>
              <a:t>Body</a:t>
            </a:r>
            <a:r>
              <a:rPr lang="es-MX" altLang="es-MX" sz="1600" dirty="0">
                <a:latin typeface="Arial" panose="020B0604020202020204" pitchFamily="34" charset="0"/>
                <a:cs typeface="Arial" panose="020B0604020202020204" pitchFamily="34" charset="0"/>
              </a:rPr>
              <a:t> y elegí el formato JSON para enviar los datos correctamente. Luego eliminé cualquier información que estuviera escrita anteriormente y pegué el nuevo contenido JSON correspondiente al estudiante que se iba a registrar.</a:t>
            </a:r>
          </a:p>
        </p:txBody>
      </p:sp>
    </p:spTree>
    <p:extLst>
      <p:ext uri="{BB962C8B-B14F-4D97-AF65-F5344CB8AC3E}">
        <p14:creationId xmlns:p14="http://schemas.microsoft.com/office/powerpoint/2010/main" val="12142166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2FBCA501-65B3-41DC-B01E-B2A27D540990}"/>
              </a:ext>
            </a:extLst>
          </p:cNvPr>
          <p:cNvSpPr txBox="1"/>
          <p:nvPr/>
        </p:nvSpPr>
        <p:spPr>
          <a:xfrm>
            <a:off x="-251367" y="8404481"/>
            <a:ext cx="6882623" cy="307777"/>
          </a:xfrm>
          <a:prstGeom prst="rect">
            <a:avLst/>
          </a:prstGeom>
          <a:noFill/>
        </p:spPr>
        <p:txBody>
          <a:bodyPr wrap="square" rtlCol="0">
            <a:spAutoFit/>
          </a:bodyPr>
          <a:lstStyle/>
          <a:p>
            <a:pPr algn="just"/>
            <a:endParaRPr lang="es-MX" sz="1400" dirty="0">
              <a:latin typeface="Arial" panose="020B0604020202020204" pitchFamily="34" charset="0"/>
              <a:cs typeface="Arial" panose="020B0604020202020204" pitchFamily="34" charset="0"/>
            </a:endParaRPr>
          </a:p>
        </p:txBody>
      </p:sp>
      <p:sp>
        <p:nvSpPr>
          <p:cNvPr id="7" name="Rectangle 1">
            <a:extLst>
              <a:ext uri="{FF2B5EF4-FFF2-40B4-BE49-F238E27FC236}">
                <a16:creationId xmlns:a16="http://schemas.microsoft.com/office/drawing/2014/main" id="{7A1FC596-0016-44AE-AF40-AD3B6FA20880}"/>
              </a:ext>
            </a:extLst>
          </p:cNvPr>
          <p:cNvSpPr>
            <a:spLocks noChangeArrowheads="1"/>
          </p:cNvSpPr>
          <p:nvPr/>
        </p:nvSpPr>
        <p:spPr bwMode="auto">
          <a:xfrm>
            <a:off x="170260" y="3482298"/>
            <a:ext cx="9610234" cy="1785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s-MX" sz="1600" dirty="0">
                <a:latin typeface="Arial" panose="020B0604020202020204" pitchFamily="34" charset="0"/>
                <a:cs typeface="Arial" panose="020B0604020202020204" pitchFamily="34" charset="0"/>
              </a:rPr>
              <a:t>Seleccioné la petición PUT Actualizar Estudiante dentro de la colección. Después modifiqué el número que aparece en la URL, colocando el ID del estudiante que necesitaba actualizar. Luego entré a la pestaña </a:t>
            </a:r>
            <a:r>
              <a:rPr lang="es-MX" sz="1600" dirty="0" err="1">
                <a:latin typeface="Arial" panose="020B0604020202020204" pitchFamily="34" charset="0"/>
                <a:cs typeface="Arial" panose="020B0604020202020204" pitchFamily="34" charset="0"/>
              </a:rPr>
              <a:t>Body</a:t>
            </a:r>
            <a:r>
              <a:rPr lang="es-MX" sz="1600" dirty="0">
                <a:latin typeface="Arial" panose="020B0604020202020204" pitchFamily="34" charset="0"/>
                <a:cs typeface="Arial" panose="020B0604020202020204" pitchFamily="34" charset="0"/>
              </a:rPr>
              <a:t> y pegué el JSON completo con la nueva información que se iba a guardar.</a:t>
            </a:r>
          </a:p>
          <a:p>
            <a:pPr algn="just"/>
            <a:r>
              <a:rPr lang="es-MX" sz="1600" dirty="0">
                <a:latin typeface="Arial" panose="020B0604020202020204" pitchFamily="34" charset="0"/>
                <a:cs typeface="Arial" panose="020B0604020202020204" pitchFamily="34" charset="0"/>
              </a:rPr>
              <a:t>Finalmente hice clic en </a:t>
            </a:r>
            <a:r>
              <a:rPr lang="es-MX" sz="1600" dirty="0" err="1">
                <a:latin typeface="Arial" panose="020B0604020202020204" pitchFamily="34" charset="0"/>
                <a:cs typeface="Arial" panose="020B0604020202020204" pitchFamily="34" charset="0"/>
              </a:rPr>
              <a:t>Send</a:t>
            </a:r>
            <a:r>
              <a:rPr lang="es-MX" sz="1600" dirty="0">
                <a:latin typeface="Arial" panose="020B0604020202020204" pitchFamily="34" charset="0"/>
                <a:cs typeface="Arial" panose="020B0604020202020204" pitchFamily="34" charset="0"/>
              </a:rPr>
              <a:t> y revisé que la respuesta mostrara el estado 200 OK, lo cual confirma que la actualización se realizó correctamente. En el resultado se pudo comprobar que el campo semestre cambió a 5 y que la dirección también fue modificada.</a:t>
            </a:r>
          </a:p>
          <a:p>
            <a:pPr marL="0" marR="0" lvl="0" indent="0" algn="just" defTabSz="914400" rtl="0" eaLnBrk="0" fontAlgn="base" latinLnBrk="0" hangingPunct="0">
              <a:lnSpc>
                <a:spcPct val="100000"/>
              </a:lnSpc>
              <a:spcBef>
                <a:spcPct val="0"/>
              </a:spcBef>
              <a:spcAft>
                <a:spcPct val="0"/>
              </a:spcAft>
              <a:buClrTx/>
              <a:buSzTx/>
              <a:buFontTx/>
              <a:buNone/>
              <a:tabLst/>
            </a:pPr>
            <a:endParaRPr lang="es-MX" altLang="es-MX" sz="1400" dirty="0">
              <a:latin typeface="Arial" panose="020B0604020202020204" pitchFamily="34" charset="0"/>
              <a:cs typeface="Arial" panose="020B0604020202020204" pitchFamily="34" charset="0"/>
            </a:endParaRPr>
          </a:p>
        </p:txBody>
      </p:sp>
      <p:pic>
        <p:nvPicPr>
          <p:cNvPr id="3" name="Imagen 2">
            <a:extLst>
              <a:ext uri="{FF2B5EF4-FFF2-40B4-BE49-F238E27FC236}">
                <a16:creationId xmlns:a16="http://schemas.microsoft.com/office/drawing/2014/main" id="{1D885874-8481-49CF-A827-B5A4F040EF05}"/>
              </a:ext>
            </a:extLst>
          </p:cNvPr>
          <p:cNvPicPr>
            <a:picLocks noChangeAspect="1"/>
          </p:cNvPicPr>
          <p:nvPr/>
        </p:nvPicPr>
        <p:blipFill>
          <a:blip r:embed="rId2"/>
          <a:stretch>
            <a:fillRect/>
          </a:stretch>
        </p:blipFill>
        <p:spPr>
          <a:xfrm>
            <a:off x="170260" y="165661"/>
            <a:ext cx="5692588" cy="2896697"/>
          </a:xfrm>
          <a:prstGeom prst="rect">
            <a:avLst/>
          </a:prstGeom>
        </p:spPr>
      </p:pic>
    </p:spTree>
    <p:extLst>
      <p:ext uri="{BB962C8B-B14F-4D97-AF65-F5344CB8AC3E}">
        <p14:creationId xmlns:p14="http://schemas.microsoft.com/office/powerpoint/2010/main" val="29052578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
            <a:extLst>
              <a:ext uri="{FF2B5EF4-FFF2-40B4-BE49-F238E27FC236}">
                <a16:creationId xmlns:a16="http://schemas.microsoft.com/office/drawing/2014/main" id="{0D55B659-2F8E-4F9D-9918-EB7717C4FE5C}"/>
              </a:ext>
            </a:extLst>
          </p:cNvPr>
          <p:cNvSpPr>
            <a:spLocks noChangeArrowheads="1"/>
          </p:cNvSpPr>
          <p:nvPr/>
        </p:nvSpPr>
        <p:spPr bwMode="auto">
          <a:xfrm>
            <a:off x="439270" y="3675160"/>
            <a:ext cx="7548283" cy="22775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s-MX" sz="1600" dirty="0"/>
              <a:t>Seleccioné la petición DELETE Eliminar Estudiante dentro de la colección. Después modifiqué el número de la URL colocando el ID del estudiante que deseaba borrar. Luego verifiqué que la pestaña </a:t>
            </a:r>
            <a:r>
              <a:rPr lang="es-MX" sz="1600" dirty="0" err="1"/>
              <a:t>Body</a:t>
            </a:r>
            <a:r>
              <a:rPr lang="es-MX" sz="1600" dirty="0"/>
              <a:t> estuviera vacía o en </a:t>
            </a:r>
            <a:r>
              <a:rPr lang="es-MX" sz="1600" dirty="0" err="1"/>
              <a:t>None</a:t>
            </a:r>
            <a:r>
              <a:rPr lang="es-MX" sz="1600" dirty="0"/>
              <a:t>, ya que para eliminar un registro no es necesario enviar información adicional.</a:t>
            </a:r>
          </a:p>
          <a:p>
            <a:pPr algn="just"/>
            <a:r>
              <a:rPr lang="es-MX" sz="1600" dirty="0"/>
              <a:t>Después hice clic en </a:t>
            </a:r>
            <a:r>
              <a:rPr lang="es-MX" sz="1600" dirty="0" err="1"/>
              <a:t>Send</a:t>
            </a:r>
            <a:r>
              <a:rPr lang="es-MX" sz="1600" dirty="0"/>
              <a:t> y revisé que la respuesta mostrara el estado 204 No Content, lo cual indica que el estudiante fue eliminado correctamente. Para confirmar la eliminación, ejecuté nuevamente la petición GET Listar Estudiantes y comprobé que el registro ya no aparecía en la lista.</a:t>
            </a:r>
          </a:p>
          <a:p>
            <a:pPr marL="0" marR="0" lvl="0" indent="0" algn="just" defTabSz="914400" rtl="0" eaLnBrk="0" fontAlgn="base" latinLnBrk="0" hangingPunct="0">
              <a:lnSpc>
                <a:spcPct val="100000"/>
              </a:lnSpc>
              <a:spcBef>
                <a:spcPct val="0"/>
              </a:spcBef>
              <a:spcAft>
                <a:spcPct val="0"/>
              </a:spcAft>
              <a:buClrTx/>
              <a:buSzTx/>
              <a:buFontTx/>
              <a:buNone/>
              <a:tabLst/>
            </a:pPr>
            <a:endParaRPr lang="es-MX" altLang="es-MX" sz="1400" dirty="0">
              <a:latin typeface="Arial" panose="020B0604020202020204" pitchFamily="34" charset="0"/>
              <a:cs typeface="Arial" panose="020B0604020202020204" pitchFamily="34" charset="0"/>
            </a:endParaRPr>
          </a:p>
        </p:txBody>
      </p:sp>
      <p:pic>
        <p:nvPicPr>
          <p:cNvPr id="6" name="Marcador de contenido 5">
            <a:extLst>
              <a:ext uri="{FF2B5EF4-FFF2-40B4-BE49-F238E27FC236}">
                <a16:creationId xmlns:a16="http://schemas.microsoft.com/office/drawing/2014/main" id="{6B0A1000-C385-4F31-AACA-25DEABE87FA3}"/>
              </a:ext>
            </a:extLst>
          </p:cNvPr>
          <p:cNvPicPr>
            <a:picLocks noGrp="1" noChangeAspect="1"/>
          </p:cNvPicPr>
          <p:nvPr>
            <p:ph idx="1"/>
          </p:nvPr>
        </p:nvPicPr>
        <p:blipFill>
          <a:blip r:embed="rId2"/>
          <a:stretch>
            <a:fillRect/>
          </a:stretch>
        </p:blipFill>
        <p:spPr>
          <a:xfrm>
            <a:off x="265649" y="170425"/>
            <a:ext cx="5919998" cy="3012416"/>
          </a:xfrm>
        </p:spPr>
      </p:pic>
    </p:spTree>
    <p:extLst>
      <p:ext uri="{BB962C8B-B14F-4D97-AF65-F5344CB8AC3E}">
        <p14:creationId xmlns:p14="http://schemas.microsoft.com/office/powerpoint/2010/main" val="25887360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867568F-B416-4EC8-A123-C4137E883C39}"/>
              </a:ext>
            </a:extLst>
          </p:cNvPr>
          <p:cNvSpPr>
            <a:spLocks noGrp="1"/>
          </p:cNvSpPr>
          <p:nvPr>
            <p:ph type="title"/>
          </p:nvPr>
        </p:nvSpPr>
        <p:spPr>
          <a:xfrm>
            <a:off x="76200" y="434586"/>
            <a:ext cx="9601200" cy="739588"/>
          </a:xfrm>
        </p:spPr>
        <p:txBody>
          <a:bodyPr/>
          <a:lstStyle/>
          <a:p>
            <a:pPr algn="ctr"/>
            <a:r>
              <a:rPr lang="es-MX" b="1" dirty="0">
                <a:solidFill>
                  <a:schemeClr val="tx1"/>
                </a:solidFill>
                <a:latin typeface="Arial" panose="020B0604020202020204" pitchFamily="34" charset="0"/>
                <a:cs typeface="Arial" panose="020B0604020202020204" pitchFamily="34" charset="0"/>
              </a:rPr>
              <a:t>CONCLUSION</a:t>
            </a:r>
            <a:r>
              <a:rPr lang="es-MX" b="1" dirty="0">
                <a:latin typeface="Arial" panose="020B0604020202020204" pitchFamily="34" charset="0"/>
                <a:cs typeface="Arial" panose="020B0604020202020204" pitchFamily="34" charset="0"/>
              </a:rPr>
              <a:t> </a:t>
            </a:r>
          </a:p>
        </p:txBody>
      </p:sp>
      <p:sp>
        <p:nvSpPr>
          <p:cNvPr id="3" name="Marcador de contenido 2">
            <a:extLst>
              <a:ext uri="{FF2B5EF4-FFF2-40B4-BE49-F238E27FC236}">
                <a16:creationId xmlns:a16="http://schemas.microsoft.com/office/drawing/2014/main" id="{BE31BA7C-11E4-40FD-81FC-916A162D92FA}"/>
              </a:ext>
            </a:extLst>
          </p:cNvPr>
          <p:cNvSpPr>
            <a:spLocks noGrp="1"/>
          </p:cNvSpPr>
          <p:nvPr>
            <p:ph idx="1"/>
          </p:nvPr>
        </p:nvSpPr>
        <p:spPr>
          <a:xfrm>
            <a:off x="304800" y="1638299"/>
            <a:ext cx="9144000" cy="4045527"/>
          </a:xfrm>
        </p:spPr>
        <p:txBody>
          <a:bodyPr>
            <a:normAutofit/>
          </a:bodyPr>
          <a:lstStyle/>
          <a:p>
            <a:pPr marL="0" indent="0" algn="just">
              <a:buNone/>
            </a:pPr>
            <a:r>
              <a:rPr lang="es-MX" sz="1600" dirty="0">
                <a:latin typeface="Arial" panose="020B0604020202020204" pitchFamily="34" charset="0"/>
                <a:cs typeface="Arial" panose="020B0604020202020204" pitchFamily="34" charset="0"/>
              </a:rPr>
              <a:t>la administración del espacio en disco es una parte fundamental para el buen funcionamiento de una base de datos. Al organizar correctamente el almacenamiento, se puede controlar mejor el uso de los recursos, evitar la saturación del sistema y permitir que la información se guarde de manera segura y ordenada.</a:t>
            </a:r>
          </a:p>
          <a:p>
            <a:pPr marL="0" indent="0" algn="just">
              <a:buNone/>
            </a:pPr>
            <a:r>
              <a:rPr lang="es-MX" sz="1600" dirty="0">
                <a:latin typeface="Arial" panose="020B0604020202020204" pitchFamily="34" charset="0"/>
                <a:cs typeface="Arial" panose="020B0604020202020204" pitchFamily="34" charset="0"/>
              </a:rPr>
              <a:t>También se comprendió que cada elemento de una base de datos, como tablas, índices, vistas, procedimientos y respaldos, ocupa espacio y debe ser administrado adecuadamente. De igual forma, las cuotas de usuarios y los roles ayudan a mantener un mejor control y seguridad dentro del sistema. </a:t>
            </a:r>
          </a:p>
          <a:p>
            <a:pPr marL="0" indent="0" algn="just">
              <a:buNone/>
            </a:pPr>
            <a:endParaRPr lang="es-MX"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77203283"/>
      </p:ext>
    </p:extLst>
  </p:cSld>
  <p:clrMapOvr>
    <a:masterClrMapping/>
  </p:clrMapOvr>
</p:sld>
</file>

<file path=ppt/theme/theme1.xml><?xml version="1.0" encoding="utf-8"?>
<a:theme xmlns:a="http://schemas.openxmlformats.org/drawingml/2006/main" name="Faceta">
  <a:themeElements>
    <a:clrScheme name="Faceta">
      <a:dk1>
        <a:sysClr val="windowText" lastClr="000000"/>
      </a:dk1>
      <a:lt1>
        <a:sysClr val="window" lastClr="FFFFFF"/>
      </a:lt1>
      <a:dk2>
        <a:srgbClr val="2C3C43"/>
      </a:dk2>
      <a:lt2>
        <a:srgbClr val="EBEBEB"/>
      </a:lt2>
      <a:accent1>
        <a:srgbClr val="F496CB"/>
      </a:accent1>
      <a:accent2>
        <a:srgbClr val="BC356F"/>
      </a:accent2>
      <a:accent3>
        <a:srgbClr val="E65331"/>
      </a:accent3>
      <a:accent4>
        <a:srgbClr val="F27E19"/>
      </a:accent4>
      <a:accent5>
        <a:srgbClr val="F2AC19"/>
      </a:accent5>
      <a:accent6>
        <a:srgbClr val="BC80E0"/>
      </a:accent6>
      <a:hlink>
        <a:srgbClr val="EF5285"/>
      </a:hlink>
      <a:folHlink>
        <a:srgbClr val="F77F90"/>
      </a:folHlink>
    </a:clrScheme>
    <a:fontScheme name="Faceta">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a">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23659B44-6E34-4CE8-8F0D-387DA7996826}"/>
    </a:ext>
  </a:extLst>
</a:theme>
</file>

<file path=docProps/app.xml><?xml version="1.0" encoding="utf-8"?>
<Properties xmlns="http://schemas.openxmlformats.org/officeDocument/2006/extended-properties" xmlns:vt="http://schemas.openxmlformats.org/officeDocument/2006/docPropsVTypes">
  <Template>Facet</Template>
  <TotalTime>500</TotalTime>
  <Words>837</Words>
  <Application>Microsoft Office PowerPoint</Application>
  <PresentationFormat>Panorámica</PresentationFormat>
  <Paragraphs>27</Paragraphs>
  <Slides>8</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8</vt:i4>
      </vt:variant>
    </vt:vector>
  </HeadingPairs>
  <TitlesOfParts>
    <vt:vector size="12" baseType="lpstr">
      <vt:lpstr>Arial</vt:lpstr>
      <vt:lpstr>Trebuchet MS</vt:lpstr>
      <vt:lpstr>Wingdings 3</vt:lpstr>
      <vt:lpstr>Faceta</vt:lpstr>
      <vt:lpstr>Presentación de PowerPoint</vt:lpstr>
      <vt:lpstr>INTRODUCCIÓN </vt:lpstr>
      <vt:lpstr>JUSTIFICACION</vt:lpstr>
      <vt:lpstr>Presentación de PowerPoint</vt:lpstr>
      <vt:lpstr>Presentación de PowerPoint</vt:lpstr>
      <vt:lpstr>Presentación de PowerPoint</vt:lpstr>
      <vt:lpstr>Presentación de PowerPoint</vt:lpstr>
      <vt:lpstr>CONCLUSION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Belen</dc:creator>
  <cp:lastModifiedBy>Belen</cp:lastModifiedBy>
  <cp:revision>36</cp:revision>
  <dcterms:created xsi:type="dcterms:W3CDTF">2026-05-01T07:03:44Z</dcterms:created>
  <dcterms:modified xsi:type="dcterms:W3CDTF">2026-05-30T18:12:30Z</dcterms:modified>
</cp:coreProperties>
</file>
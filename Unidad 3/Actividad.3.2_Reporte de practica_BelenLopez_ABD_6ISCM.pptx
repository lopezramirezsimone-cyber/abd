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5" r:id="rId1"/>
  </p:sldMasterIdLst>
  <p:sldIdLst>
    <p:sldId id="256" r:id="rId2"/>
    <p:sldId id="285" r:id="rId3"/>
    <p:sldId id="284" r:id="rId4"/>
    <p:sldId id="287" r:id="rId5"/>
    <p:sldId id="288" r:id="rId6"/>
    <p:sldId id="289" r:id="rId7"/>
    <p:sldId id="290" r:id="rId8"/>
    <p:sldId id="28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07" autoAdjust="0"/>
    <p:restoredTop sz="94660"/>
  </p:normalViewPr>
  <p:slideViewPr>
    <p:cSldViewPr snapToGrid="0">
      <p:cViewPr varScale="1">
        <p:scale>
          <a:sx n="85" d="100"/>
          <a:sy n="85" d="100"/>
        </p:scale>
        <p:origin x="63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4247149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529406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237920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2276618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4044943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666531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2189208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2809052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9289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1498236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461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10137833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41720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590798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42924848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428409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7DE6118-2437-4B30-8E3C-4D2BE6020583}" type="datetimeFigureOut">
              <a:rPr lang="en-US" smtClean="0"/>
              <a:pPr/>
              <a:t>6/4/2026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627465832"/>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550C69D-BBBD-4F17-8133-94C6C7338196}"/>
              </a:ext>
            </a:extLst>
          </p:cNvPr>
          <p:cNvPicPr>
            <a:picLocks noChangeAspect="1"/>
          </p:cNvPicPr>
          <p:nvPr/>
        </p:nvPicPr>
        <p:blipFill rotWithShape="1">
          <a:blip r:embed="rId2"/>
          <a:srcRect l="6551" t="37365" r="5073"/>
          <a:stretch/>
        </p:blipFill>
        <p:spPr>
          <a:xfrm>
            <a:off x="868744" y="230771"/>
            <a:ext cx="8505389" cy="532799"/>
          </a:xfrm>
          <a:prstGeom prst="rect">
            <a:avLst/>
          </a:prstGeom>
        </p:spPr>
      </p:pic>
      <p:sp>
        <p:nvSpPr>
          <p:cNvPr id="6" name="CuadroTexto 5">
            <a:extLst>
              <a:ext uri="{FF2B5EF4-FFF2-40B4-BE49-F238E27FC236}">
                <a16:creationId xmlns:a16="http://schemas.microsoft.com/office/drawing/2014/main" id="{506993DB-65C9-450C-8724-028B67E627C7}"/>
              </a:ext>
            </a:extLst>
          </p:cNvPr>
          <p:cNvSpPr txBox="1"/>
          <p:nvPr/>
        </p:nvSpPr>
        <p:spPr>
          <a:xfrm>
            <a:off x="1273312" y="1197917"/>
            <a:ext cx="8005111" cy="4866717"/>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Instituto Tecnológico de Frontera Comalapa</a:t>
            </a:r>
          </a:p>
          <a:p>
            <a:pPr marL="12700" marR="1219200" indent="-12700" algn="ctr">
              <a:lnSpc>
                <a:spcPct val="107000"/>
              </a:lnSpc>
              <a:spcAft>
                <a:spcPts val="111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Administración de base de datos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trabajo:</a:t>
            </a:r>
            <a:r>
              <a:rPr lang="es-MX" dirty="0">
                <a:solidFill>
                  <a:srgbClr val="000000"/>
                </a:solidFill>
                <a:latin typeface="Arial" panose="020B0604020202020204" pitchFamily="34" charset="0"/>
                <a:ea typeface="Arial" panose="020B0604020202020204" pitchFamily="34" charset="0"/>
                <a:cs typeface="Arial" panose="020B0604020202020204" pitchFamily="34" charset="0"/>
              </a:rPr>
              <a:t>3.2 Reporte de practica</a:t>
            </a:r>
            <a:endPar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12700" marR="881380" indent="-12700" algn="ctr">
              <a:lnSpc>
                <a:spcPct val="157000"/>
              </a:lnSpc>
              <a:spcAft>
                <a:spcPts val="1390"/>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a:t>
            </a:r>
          </a:p>
          <a:p>
            <a:pPr algn="ct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Frontera Comalapa , Chiapas a 19 </a:t>
            </a:r>
            <a:r>
              <a:rPr lang="es-MX" dirty="0">
                <a:solidFill>
                  <a:srgbClr val="000000"/>
                </a:solidFill>
                <a:latin typeface="Arial" panose="020B0604020202020204" pitchFamily="34" charset="0"/>
                <a:ea typeface="Arial" panose="020B0604020202020204" pitchFamily="34" charset="0"/>
                <a:cs typeface="Arial" panose="020B0604020202020204" pitchFamily="34" charset="0"/>
              </a:rPr>
              <a:t>/05/</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2026 </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986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24523B-31FB-4F59-A12E-EF01687EC1E2}"/>
              </a:ext>
            </a:extLst>
          </p:cNvPr>
          <p:cNvSpPr>
            <a:spLocks noGrp="1"/>
          </p:cNvSpPr>
          <p:nvPr>
            <p:ph type="title"/>
          </p:nvPr>
        </p:nvSpPr>
        <p:spPr/>
        <p:txBody>
          <a:bodyPr>
            <a:normAutofit/>
          </a:bodyPr>
          <a:lstStyle/>
          <a:p>
            <a:pPr algn="ctr"/>
            <a:r>
              <a:rPr lang="es-MX" sz="4000" b="1" dirty="0">
                <a:solidFill>
                  <a:schemeClr val="tx1"/>
                </a:solidFill>
                <a:latin typeface="Arial" panose="020B0604020202020204" pitchFamily="34" charset="0"/>
                <a:cs typeface="Arial" panose="020B0604020202020204" pitchFamily="34" charset="0"/>
              </a:rPr>
              <a:t>INTRODUCCIÓN </a:t>
            </a:r>
          </a:p>
        </p:txBody>
      </p:sp>
      <p:sp>
        <p:nvSpPr>
          <p:cNvPr id="3" name="Marcador de contenido 2">
            <a:extLst>
              <a:ext uri="{FF2B5EF4-FFF2-40B4-BE49-F238E27FC236}">
                <a16:creationId xmlns:a16="http://schemas.microsoft.com/office/drawing/2014/main" id="{51BB4FFF-1A44-44B7-B117-1B035ACBAA68}"/>
              </a:ext>
            </a:extLst>
          </p:cNvPr>
          <p:cNvSpPr>
            <a:spLocks noGrp="1"/>
          </p:cNvSpPr>
          <p:nvPr>
            <p:ph idx="1"/>
          </p:nvPr>
        </p:nvSpPr>
        <p:spPr>
          <a:xfrm>
            <a:off x="417115" y="1638300"/>
            <a:ext cx="9117106" cy="3581400"/>
          </a:xfrm>
        </p:spPr>
        <p:txBody>
          <a:bodyPr>
            <a:normAutofit lnSpcReduction="10000"/>
          </a:bodyPr>
          <a:lstStyle/>
          <a:p>
            <a:pPr marL="0" indent="0" algn="just">
              <a:buNone/>
            </a:pPr>
            <a:r>
              <a:rPr lang="es-MX" sz="1700" dirty="0">
                <a:latin typeface="Arial" panose="020B0604020202020204" pitchFamily="34" charset="0"/>
                <a:cs typeface="Arial" panose="020B0604020202020204" pitchFamily="34" charset="0"/>
              </a:rPr>
              <a:t>En este reporte de practica se llevó a cabo la revisión de una prueba de integración realizada al controlador de estudiantes dentro de un microservicio desarrollado con Spring </a:t>
            </a:r>
            <a:r>
              <a:rPr lang="es-MX" sz="1700" dirty="0" err="1">
                <a:latin typeface="Arial" panose="020B0604020202020204" pitchFamily="34" charset="0"/>
                <a:cs typeface="Arial" panose="020B0604020202020204" pitchFamily="34" charset="0"/>
              </a:rPr>
              <a:t>Boot</a:t>
            </a:r>
            <a:r>
              <a:rPr lang="es-MX" sz="1700" dirty="0">
                <a:latin typeface="Arial" panose="020B0604020202020204" pitchFamily="34" charset="0"/>
                <a:cs typeface="Arial" panose="020B0604020202020204" pitchFamily="34" charset="0"/>
              </a:rPr>
              <a:t>. Esta prueba tiene como propósito comprobar que el sistema pueda recibir y procesar correctamente una petición HTTP, simulando el registro de un estudiante mediante el </a:t>
            </a:r>
            <a:r>
              <a:rPr lang="es-MX" sz="1700" dirty="0" err="1">
                <a:latin typeface="Arial" panose="020B0604020202020204" pitchFamily="34" charset="0"/>
                <a:cs typeface="Arial" panose="020B0604020202020204" pitchFamily="34" charset="0"/>
              </a:rPr>
              <a:t>endpoint</a:t>
            </a:r>
            <a:r>
              <a:rPr lang="es-MX" sz="1700" dirty="0">
                <a:latin typeface="Arial" panose="020B0604020202020204" pitchFamily="34" charset="0"/>
                <a:cs typeface="Arial" panose="020B0604020202020204" pitchFamily="34" charset="0"/>
              </a:rPr>
              <a:t> correspondiente. Para esto se utiliza </a:t>
            </a:r>
            <a:r>
              <a:rPr lang="es-MX" sz="1700" dirty="0" err="1">
                <a:latin typeface="Arial" panose="020B0604020202020204" pitchFamily="34" charset="0"/>
                <a:cs typeface="Arial" panose="020B0604020202020204" pitchFamily="34" charset="0"/>
              </a:rPr>
              <a:t>SpringBootTest</a:t>
            </a:r>
            <a:r>
              <a:rPr lang="es-MX" sz="1700" dirty="0">
                <a:latin typeface="Arial" panose="020B0604020202020204" pitchFamily="34" charset="0"/>
                <a:cs typeface="Arial" panose="020B0604020202020204" pitchFamily="34" charset="0"/>
              </a:rPr>
              <a:t>, que permite cargar la configuración de la aplicación, y </a:t>
            </a:r>
            <a:r>
              <a:rPr lang="es-MX" sz="1700" dirty="0" err="1">
                <a:latin typeface="Arial" panose="020B0604020202020204" pitchFamily="34" charset="0"/>
                <a:cs typeface="Arial" panose="020B0604020202020204" pitchFamily="34" charset="0"/>
              </a:rPr>
              <a:t>MockMvc</a:t>
            </a:r>
            <a:r>
              <a:rPr lang="es-MX" sz="1700" dirty="0">
                <a:latin typeface="Arial" panose="020B0604020202020204" pitchFamily="34" charset="0"/>
                <a:cs typeface="Arial" panose="020B0604020202020204" pitchFamily="34" charset="0"/>
              </a:rPr>
              <a:t>, que ayuda a realizar peticiones desde el código sin necesidad de usar herramientas externas como Bruno o </a:t>
            </a:r>
            <a:r>
              <a:rPr lang="es-MX" sz="1700" dirty="0" err="1">
                <a:latin typeface="Arial" panose="020B0604020202020204" pitchFamily="34" charset="0"/>
                <a:cs typeface="Arial" panose="020B0604020202020204" pitchFamily="34" charset="0"/>
              </a:rPr>
              <a:t>Postman</a:t>
            </a:r>
            <a:r>
              <a:rPr lang="es-MX" sz="1700" dirty="0">
                <a:latin typeface="Arial" panose="020B0604020202020204" pitchFamily="34" charset="0"/>
                <a:cs typeface="Arial" panose="020B0604020202020204" pitchFamily="34" charset="0"/>
              </a:rPr>
              <a:t>.</a:t>
            </a:r>
          </a:p>
          <a:p>
            <a:pPr marL="0" indent="0" algn="just">
              <a:buNone/>
            </a:pPr>
            <a:r>
              <a:rPr lang="es-MX" sz="1700" dirty="0">
                <a:latin typeface="Arial" panose="020B0604020202020204" pitchFamily="34" charset="0"/>
                <a:cs typeface="Arial" panose="020B0604020202020204" pitchFamily="34" charset="0"/>
              </a:rPr>
              <a:t>Además, se emplea </a:t>
            </a:r>
            <a:r>
              <a:rPr lang="es-MX" sz="1700" dirty="0" err="1">
                <a:latin typeface="Arial" panose="020B0604020202020204" pitchFamily="34" charset="0"/>
                <a:cs typeface="Arial" panose="020B0604020202020204" pitchFamily="34" charset="0"/>
              </a:rPr>
              <a:t>ObjectMapper</a:t>
            </a:r>
            <a:r>
              <a:rPr lang="es-MX" sz="1700" dirty="0">
                <a:latin typeface="Arial" panose="020B0604020202020204" pitchFamily="34" charset="0"/>
                <a:cs typeface="Arial" panose="020B0604020202020204" pitchFamily="34" charset="0"/>
              </a:rPr>
              <a:t> para convertir la información del estudiante a formato JSON, ya que este es el formato que normalmente se envía en las peticiones REST. Con esta prueba se puede verificar que el controlador responda de manera correcta, que los datos enviados sean procesados adecuadamente y que la respuesta obtenida contenga la información esperada. Por lo tanto, esta actividad es importante porque permite comprobar que el controlador, la configuración de Spring </a:t>
            </a:r>
            <a:r>
              <a:rPr lang="es-MX" sz="1700" dirty="0" err="1">
                <a:latin typeface="Arial" panose="020B0604020202020204" pitchFamily="34" charset="0"/>
                <a:cs typeface="Arial" panose="020B0604020202020204" pitchFamily="34" charset="0"/>
              </a:rPr>
              <a:t>Boot</a:t>
            </a:r>
            <a:r>
              <a:rPr lang="es-MX" sz="1700" dirty="0">
                <a:latin typeface="Arial" panose="020B0604020202020204" pitchFamily="34" charset="0"/>
                <a:cs typeface="Arial" panose="020B0604020202020204" pitchFamily="34" charset="0"/>
              </a:rPr>
              <a:t> y la comunicación mediante JSON funcionen correctamente en conjunto.</a:t>
            </a:r>
          </a:p>
          <a:p>
            <a:pPr marL="0" indent="0" algn="just">
              <a:buNone/>
            </a:pP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3258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5FD57D-AB14-423D-8CD4-7A9E7BE99C6C}"/>
              </a:ext>
            </a:extLst>
          </p:cNvPr>
          <p:cNvSpPr>
            <a:spLocks noGrp="1"/>
          </p:cNvSpPr>
          <p:nvPr>
            <p:ph type="title"/>
          </p:nvPr>
        </p:nvSpPr>
        <p:spPr>
          <a:xfrm>
            <a:off x="295836" y="506506"/>
            <a:ext cx="9601200" cy="802341"/>
          </a:xfrm>
        </p:spPr>
        <p:txBody>
          <a:bodyPr/>
          <a:lstStyle/>
          <a:p>
            <a:pPr algn="ctr"/>
            <a:r>
              <a:rPr lang="es-MX" b="1" dirty="0">
                <a:solidFill>
                  <a:schemeClr val="tx1"/>
                </a:solidFill>
                <a:latin typeface="Arial" panose="020B0604020202020204" pitchFamily="34" charset="0"/>
                <a:cs typeface="Arial" panose="020B0604020202020204" pitchFamily="34" charset="0"/>
              </a:rPr>
              <a:t>JUSTIFICACION</a:t>
            </a:r>
          </a:p>
        </p:txBody>
      </p:sp>
      <p:sp>
        <p:nvSpPr>
          <p:cNvPr id="4" name="Rectangle 1">
            <a:extLst>
              <a:ext uri="{FF2B5EF4-FFF2-40B4-BE49-F238E27FC236}">
                <a16:creationId xmlns:a16="http://schemas.microsoft.com/office/drawing/2014/main" id="{48812A74-E031-4538-8BA8-F383D1D98685}"/>
              </a:ext>
            </a:extLst>
          </p:cNvPr>
          <p:cNvSpPr>
            <a:spLocks noGrp="1" noChangeArrowheads="1"/>
          </p:cNvSpPr>
          <p:nvPr>
            <p:ph idx="1"/>
          </p:nvPr>
        </p:nvSpPr>
        <p:spPr bwMode="auto">
          <a:xfrm>
            <a:off x="555811" y="2807128"/>
            <a:ext cx="85164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br>
              <a:rPr kumimoji="0" lang="es-MX" altLang="es-MX" sz="1400" b="0" i="0" u="none" strike="noStrike" cap="none" normalizeH="0" baseline="0" dirty="0">
                <a:ln>
                  <a:noFill/>
                </a:ln>
                <a:solidFill>
                  <a:schemeClr val="tx1"/>
                </a:solidFill>
                <a:effectLst/>
                <a:latin typeface="Arial" panose="020B0604020202020204" pitchFamily="34" charset="0"/>
              </a:rPr>
            </a:br>
            <a:endParaRPr kumimoji="0" lang="es-MX" altLang="es-MX" sz="1400" b="0" i="0" u="none" strike="noStrike" cap="none" normalizeH="0" baseline="0" dirty="0">
              <a:ln>
                <a:noFill/>
              </a:ln>
              <a:solidFill>
                <a:schemeClr val="tx1"/>
              </a:solidFill>
              <a:effectLst/>
              <a:latin typeface="Arial" panose="020B0604020202020204" pitchFamily="34" charset="0"/>
            </a:endParaRPr>
          </a:p>
        </p:txBody>
      </p:sp>
      <p:sp>
        <p:nvSpPr>
          <p:cNvPr id="3" name="CuadroTexto 2">
            <a:extLst>
              <a:ext uri="{FF2B5EF4-FFF2-40B4-BE49-F238E27FC236}">
                <a16:creationId xmlns:a16="http://schemas.microsoft.com/office/drawing/2014/main" id="{04D9E80A-2846-41F9-872E-FFC4C7274050}"/>
              </a:ext>
            </a:extLst>
          </p:cNvPr>
          <p:cNvSpPr txBox="1"/>
          <p:nvPr/>
        </p:nvSpPr>
        <p:spPr>
          <a:xfrm>
            <a:off x="475130" y="1622612"/>
            <a:ext cx="9072282" cy="3247043"/>
          </a:xfrm>
          <a:prstGeom prst="rect">
            <a:avLst/>
          </a:prstGeom>
          <a:noFill/>
        </p:spPr>
        <p:txBody>
          <a:bodyPr wrap="square" rtlCol="0">
            <a:spAutoFit/>
          </a:bodyPr>
          <a:lstStyle/>
          <a:p>
            <a:pPr algn="just"/>
            <a:r>
              <a:rPr lang="es-MX" sz="1700" dirty="0">
                <a:latin typeface="Arial" panose="020B0604020202020204" pitchFamily="34" charset="0"/>
                <a:cs typeface="Arial" panose="020B0604020202020204" pitchFamily="34" charset="0"/>
              </a:rPr>
              <a:t>En un microservicio, no solo es necesario que el código esté escrito, sino también verificar que los </a:t>
            </a:r>
            <a:r>
              <a:rPr lang="es-MX" sz="1700" dirty="0" err="1">
                <a:latin typeface="Arial" panose="020B0604020202020204" pitchFamily="34" charset="0"/>
                <a:cs typeface="Arial" panose="020B0604020202020204" pitchFamily="34" charset="0"/>
              </a:rPr>
              <a:t>endpoints</a:t>
            </a:r>
            <a:r>
              <a:rPr lang="es-MX" sz="1700" dirty="0">
                <a:latin typeface="Arial" panose="020B0604020202020204" pitchFamily="34" charset="0"/>
                <a:cs typeface="Arial" panose="020B0604020202020204" pitchFamily="34" charset="0"/>
              </a:rPr>
              <a:t> respondan de manera adecuada y que los datos enviados sean procesados correctamente.</a:t>
            </a:r>
          </a:p>
          <a:p>
            <a:pPr algn="just"/>
            <a:r>
              <a:rPr lang="es-MX" sz="1700" dirty="0">
                <a:latin typeface="Arial" panose="020B0604020202020204" pitchFamily="34" charset="0"/>
                <a:cs typeface="Arial" panose="020B0604020202020204" pitchFamily="34" charset="0"/>
              </a:rPr>
              <a:t>Además, esta prueba ayuda a revisar que Spring </a:t>
            </a:r>
            <a:r>
              <a:rPr lang="es-MX" sz="1700" dirty="0" err="1">
                <a:latin typeface="Arial" panose="020B0604020202020204" pitchFamily="34" charset="0"/>
                <a:cs typeface="Arial" panose="020B0604020202020204" pitchFamily="34" charset="0"/>
              </a:rPr>
              <a:t>Boot</a:t>
            </a:r>
            <a:r>
              <a:rPr lang="es-MX" sz="1700" dirty="0">
                <a:latin typeface="Arial" panose="020B0604020202020204" pitchFamily="34" charset="0"/>
                <a:cs typeface="Arial" panose="020B0604020202020204" pitchFamily="34" charset="0"/>
              </a:rPr>
              <a:t>, </a:t>
            </a:r>
            <a:r>
              <a:rPr lang="es-MX" sz="1700" dirty="0" err="1">
                <a:latin typeface="Arial" panose="020B0604020202020204" pitchFamily="34" charset="0"/>
                <a:cs typeface="Arial" panose="020B0604020202020204" pitchFamily="34" charset="0"/>
              </a:rPr>
              <a:t>MockMvc</a:t>
            </a:r>
            <a:r>
              <a:rPr lang="es-MX" sz="1700" dirty="0">
                <a:latin typeface="Arial" panose="020B0604020202020204" pitchFamily="34" charset="0"/>
                <a:cs typeface="Arial" panose="020B0604020202020204" pitchFamily="34" charset="0"/>
              </a:rPr>
              <a:t> y </a:t>
            </a:r>
            <a:r>
              <a:rPr lang="es-MX" sz="1700" dirty="0" err="1">
                <a:latin typeface="Arial" panose="020B0604020202020204" pitchFamily="34" charset="0"/>
                <a:cs typeface="Arial" panose="020B0604020202020204" pitchFamily="34" charset="0"/>
              </a:rPr>
              <a:t>ObjectMapper</a:t>
            </a:r>
            <a:r>
              <a:rPr lang="es-MX" sz="1700" dirty="0">
                <a:latin typeface="Arial" panose="020B0604020202020204" pitchFamily="34" charset="0"/>
                <a:cs typeface="Arial" panose="020B0604020202020204" pitchFamily="34" charset="0"/>
              </a:rPr>
              <a:t> trabajen en conjunto para simular una petición real sin necesidad de utilizar herramientas externas como Bruno o </a:t>
            </a:r>
            <a:r>
              <a:rPr lang="es-MX" sz="1700" dirty="0" err="1">
                <a:latin typeface="Arial" panose="020B0604020202020204" pitchFamily="34" charset="0"/>
                <a:cs typeface="Arial" panose="020B0604020202020204" pitchFamily="34" charset="0"/>
              </a:rPr>
              <a:t>Postman</a:t>
            </a:r>
            <a:r>
              <a:rPr lang="es-MX" sz="1700" dirty="0">
                <a:latin typeface="Arial" panose="020B0604020202020204" pitchFamily="34" charset="0"/>
                <a:cs typeface="Arial" panose="020B0604020202020204" pitchFamily="34" charset="0"/>
              </a:rPr>
              <a:t>. Esto facilita la detección de errores antes de probar la aplicación de forma manual o antes de conectarla con un </a:t>
            </a:r>
            <a:r>
              <a:rPr lang="es-MX" sz="1700" dirty="0" err="1">
                <a:latin typeface="Arial" panose="020B0604020202020204" pitchFamily="34" charset="0"/>
                <a:cs typeface="Arial" panose="020B0604020202020204" pitchFamily="34" charset="0"/>
              </a:rPr>
              <a:t>frontend</a:t>
            </a:r>
            <a:r>
              <a:rPr lang="es-MX" sz="1700" dirty="0">
                <a:latin typeface="Arial" panose="020B0604020202020204" pitchFamily="34" charset="0"/>
                <a:cs typeface="Arial" panose="020B0604020202020204" pitchFamily="34" charset="0"/>
              </a:rPr>
              <a:t>.</a:t>
            </a:r>
          </a:p>
          <a:p>
            <a:pPr algn="just"/>
            <a:r>
              <a:rPr lang="es-MX" sz="1700" dirty="0">
                <a:latin typeface="Arial" panose="020B0604020202020204" pitchFamily="34" charset="0"/>
                <a:cs typeface="Arial" panose="020B0604020202020204" pitchFamily="34" charset="0"/>
              </a:rPr>
              <a:t>Por ello, realizar esta prueba de integración es fundamental, ya que permite validar que el registro de estudiantes se ejecute correctamente, que la respuesta sea la esperada y que la información enviada en formato JSON se maneje de forma adecuada dentro del microservicio.</a:t>
            </a:r>
          </a:p>
          <a:p>
            <a:endParaRPr lang="es-MX" dirty="0"/>
          </a:p>
        </p:txBody>
      </p:sp>
    </p:spTree>
    <p:extLst>
      <p:ext uri="{BB962C8B-B14F-4D97-AF65-F5344CB8AC3E}">
        <p14:creationId xmlns:p14="http://schemas.microsoft.com/office/powerpoint/2010/main" val="3071430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Marcador de contenido 20">
            <a:extLst>
              <a:ext uri="{FF2B5EF4-FFF2-40B4-BE49-F238E27FC236}">
                <a16:creationId xmlns:a16="http://schemas.microsoft.com/office/drawing/2014/main" id="{3B48C347-334D-420A-A33C-CFCC52E774C0}"/>
              </a:ext>
            </a:extLst>
          </p:cNvPr>
          <p:cNvPicPr>
            <a:picLocks noGrp="1" noChangeAspect="1"/>
          </p:cNvPicPr>
          <p:nvPr>
            <p:ph idx="1"/>
          </p:nvPr>
        </p:nvPicPr>
        <p:blipFill>
          <a:blip r:embed="rId2"/>
          <a:stretch>
            <a:fillRect/>
          </a:stretch>
        </p:blipFill>
        <p:spPr>
          <a:xfrm>
            <a:off x="2632160" y="815975"/>
            <a:ext cx="5707865" cy="2904471"/>
          </a:xfrm>
        </p:spPr>
      </p:pic>
      <p:sp>
        <p:nvSpPr>
          <p:cNvPr id="23" name="CuadroTexto 22">
            <a:extLst>
              <a:ext uri="{FF2B5EF4-FFF2-40B4-BE49-F238E27FC236}">
                <a16:creationId xmlns:a16="http://schemas.microsoft.com/office/drawing/2014/main" id="{43FEDA6B-6E6A-4630-B33B-557441F8656B}"/>
              </a:ext>
            </a:extLst>
          </p:cNvPr>
          <p:cNvSpPr txBox="1"/>
          <p:nvPr/>
        </p:nvSpPr>
        <p:spPr>
          <a:xfrm>
            <a:off x="2239543" y="169644"/>
            <a:ext cx="6100482" cy="646331"/>
          </a:xfrm>
          <a:prstGeom prst="rect">
            <a:avLst/>
          </a:prstGeom>
          <a:noFill/>
        </p:spPr>
        <p:txBody>
          <a:bodyPr wrap="square">
            <a:spAutoFit/>
          </a:bodyPr>
          <a:lstStyle/>
          <a:p>
            <a:pPr algn="ctr"/>
            <a:r>
              <a:rPr lang="es-MX" sz="3600" dirty="0">
                <a:solidFill>
                  <a:schemeClr val="tx1"/>
                </a:solidFill>
                <a:latin typeface="Arial Black" panose="020B0A04020102020204" pitchFamily="34" charset="0"/>
              </a:rPr>
              <a:t>CLIENTECONTROLLER </a:t>
            </a:r>
          </a:p>
        </p:txBody>
      </p:sp>
      <p:sp>
        <p:nvSpPr>
          <p:cNvPr id="24" name="Rectangle 1">
            <a:extLst>
              <a:ext uri="{FF2B5EF4-FFF2-40B4-BE49-F238E27FC236}">
                <a16:creationId xmlns:a16="http://schemas.microsoft.com/office/drawing/2014/main" id="{D67D9D9D-DA60-441B-8EA4-245B4C2F8792}"/>
              </a:ext>
            </a:extLst>
          </p:cNvPr>
          <p:cNvSpPr>
            <a:spLocks noGrp="1" noChangeArrowheads="1"/>
          </p:cNvSpPr>
          <p:nvPr>
            <p:ph type="title"/>
          </p:nvPr>
        </p:nvSpPr>
        <p:spPr bwMode="auto">
          <a:xfrm>
            <a:off x="358589" y="3720446"/>
            <a:ext cx="8937811"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600" dirty="0">
                <a:solidFill>
                  <a:schemeClr val="tx1"/>
                </a:solidFill>
              </a:rPr>
              <a:t>Este código corresponde al archivo ClienteController.java, el cual funciona como un controlador REST dentro del microservicio. Su objetivo principal es definir los </a:t>
            </a:r>
            <a:r>
              <a:rPr lang="es-MX" altLang="es-MX" sz="1600" dirty="0" err="1">
                <a:solidFill>
                  <a:schemeClr val="tx1"/>
                </a:solidFill>
              </a:rPr>
              <a:t>endpoints</a:t>
            </a:r>
            <a:r>
              <a:rPr lang="es-MX" altLang="es-MX" sz="1600" dirty="0">
                <a:solidFill>
                  <a:schemeClr val="tx1"/>
                </a:solidFill>
              </a:rPr>
              <a:t> o rutas que permiten realizar operaciones relacionadas con los clientes. En este controlador se usa @RestController para indicar que la clase responderá a peticiones HTTP, y @RequestMapping("/clientes") para establecer que todas las rutas empezarán con /clientes. Además, se utiliza @CrossOrigin(origins = "*") para permitir que el </a:t>
            </a:r>
            <a:r>
              <a:rPr lang="es-MX" altLang="es-MX" sz="1600" dirty="0" err="1">
                <a:solidFill>
                  <a:schemeClr val="tx1"/>
                </a:solidFill>
              </a:rPr>
              <a:t>frontend</a:t>
            </a:r>
            <a:r>
              <a:rPr lang="es-MX" altLang="es-MX" sz="1600" dirty="0">
                <a:solidFill>
                  <a:schemeClr val="tx1"/>
                </a:solidFill>
              </a:rPr>
              <a:t> pueda conectarse al </a:t>
            </a:r>
            <a:r>
              <a:rPr lang="es-MX" altLang="es-MX" sz="1600" dirty="0" err="1">
                <a:solidFill>
                  <a:schemeClr val="tx1"/>
                </a:solidFill>
              </a:rPr>
              <a:t>backend</a:t>
            </a:r>
            <a:r>
              <a:rPr lang="es-MX" altLang="es-MX" sz="1600" dirty="0">
                <a:solidFill>
                  <a:schemeClr val="tx1"/>
                </a:solidFill>
              </a:rPr>
              <a:t> sin problemas de acceso.</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600" dirty="0">
                <a:solidFill>
                  <a:schemeClr val="tx1"/>
                </a:solidFill>
              </a:rPr>
              <a:t>También se observa que se inyecta el servicio </a:t>
            </a:r>
            <a:r>
              <a:rPr lang="es-MX" altLang="es-MX" sz="1600" dirty="0" err="1">
                <a:solidFill>
                  <a:schemeClr val="tx1"/>
                </a:solidFill>
              </a:rPr>
              <a:t>ClienteService</a:t>
            </a:r>
            <a:r>
              <a:rPr lang="es-MX" altLang="es-MX" sz="1600" dirty="0">
                <a:solidFill>
                  <a:schemeClr val="tx1"/>
                </a:solidFill>
              </a:rPr>
              <a:t> mediante @Autowired, lo que permite que el controlador pueda llamar a los métodos encargados de manejar la lógica del negocio. En este caso, el controlador no realiza directamente las consultas a la base de datos, sino que recibe las peticiones del usuario y manda la información al servicio correspondiente.</a:t>
            </a:r>
          </a:p>
        </p:txBody>
      </p:sp>
    </p:spTree>
    <p:extLst>
      <p:ext uri="{BB962C8B-B14F-4D97-AF65-F5344CB8AC3E}">
        <p14:creationId xmlns:p14="http://schemas.microsoft.com/office/powerpoint/2010/main" val="4194668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20">
            <a:extLst>
              <a:ext uri="{FF2B5EF4-FFF2-40B4-BE49-F238E27FC236}">
                <a16:creationId xmlns:a16="http://schemas.microsoft.com/office/drawing/2014/main" id="{AD51A00C-5893-4517-A3CF-E3D1B1394A15}"/>
              </a:ext>
            </a:extLst>
          </p:cNvPr>
          <p:cNvPicPr>
            <a:picLocks noGrp="1" noChangeAspect="1"/>
          </p:cNvPicPr>
          <p:nvPr>
            <p:ph idx="1"/>
          </p:nvPr>
        </p:nvPicPr>
        <p:blipFill>
          <a:blip r:embed="rId2"/>
          <a:stretch>
            <a:fillRect/>
          </a:stretch>
        </p:blipFill>
        <p:spPr>
          <a:xfrm>
            <a:off x="2632161" y="107670"/>
            <a:ext cx="5707865" cy="2904471"/>
          </a:xfrm>
        </p:spPr>
      </p:pic>
      <p:sp>
        <p:nvSpPr>
          <p:cNvPr id="5" name="Rectangle 1">
            <a:extLst>
              <a:ext uri="{FF2B5EF4-FFF2-40B4-BE49-F238E27FC236}">
                <a16:creationId xmlns:a16="http://schemas.microsoft.com/office/drawing/2014/main" id="{9236D3CF-6390-4A2C-A1E5-1DE56EFB576A}"/>
              </a:ext>
            </a:extLst>
          </p:cNvPr>
          <p:cNvSpPr>
            <a:spLocks noGrp="1" noChangeArrowheads="1"/>
          </p:cNvSpPr>
          <p:nvPr>
            <p:ph idx="1"/>
          </p:nvPr>
        </p:nvSpPr>
        <p:spPr bwMode="auto">
          <a:xfrm>
            <a:off x="484095" y="4260448"/>
            <a:ext cx="8700434"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a:latin typeface="Arial" panose="020B0604020202020204" pitchFamily="34" charset="0"/>
                <a:cs typeface="Arial" panose="020B0604020202020204" pitchFamily="34" charset="0"/>
              </a:rPr>
              <a:t>FUNCIONES:</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a:latin typeface="Arial" panose="020B0604020202020204" pitchFamily="34" charset="0"/>
                <a:cs typeface="Arial" panose="020B0604020202020204" pitchFamily="34" charset="0"/>
              </a:rPr>
              <a:t>1- Permite listar todos los clientes registrados en el sistema mediante el endpoint GET /clientes.</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a:latin typeface="Arial" panose="020B0604020202020204" pitchFamily="34" charset="0"/>
                <a:cs typeface="Arial" panose="020B0604020202020204" pitchFamily="34" charset="0"/>
              </a:rPr>
              <a:t>2- Permite consultar únicamente los clientes activos usando la ruta GET /clientes/activos.</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a:latin typeface="Arial" panose="020B0604020202020204" pitchFamily="34" charset="0"/>
                <a:cs typeface="Arial" panose="020B0604020202020204" pitchFamily="34" charset="0"/>
              </a:rPr>
              <a:t>3- Permite buscar un cliente específico por su ID mediante el endpoint GET /clientes/{id}.</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a:latin typeface="Arial" panose="020B0604020202020204" pitchFamily="34" charset="0"/>
                <a:cs typeface="Arial" panose="020B0604020202020204" pitchFamily="34" charset="0"/>
              </a:rPr>
              <a:t>4- El controlador recibe las solicitudes HTTP y devuelve respuestas usando ResponseEntity.</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a:latin typeface="Arial" panose="020B0604020202020204" pitchFamily="34" charset="0"/>
                <a:cs typeface="Arial" panose="020B0604020202020204" pitchFamily="34" charset="0"/>
              </a:rPr>
              <a:t>5- No contiene directamente la lógica de la base de datos, ya que esa parte se maneja desde ClienteService.</a:t>
            </a:r>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1400">
                <a:latin typeface="Arial" panose="020B0604020202020204" pitchFamily="34" charset="0"/>
                <a:cs typeface="Arial" panose="020B0604020202020204" pitchFamily="34" charset="0"/>
              </a:rPr>
              <a:t>6- Sirve como conexión entre el frontend, como Angular, y el backend del microservicio.</a:t>
            </a:r>
          </a:p>
        </p:txBody>
      </p:sp>
    </p:spTree>
    <p:extLst>
      <p:ext uri="{BB962C8B-B14F-4D97-AF65-F5344CB8AC3E}">
        <p14:creationId xmlns:p14="http://schemas.microsoft.com/office/powerpoint/2010/main" val="13719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04A60F8-0139-4A50-8AE7-AEBBDC490B5D}"/>
              </a:ext>
            </a:extLst>
          </p:cNvPr>
          <p:cNvSpPr>
            <a:spLocks noGrp="1" noChangeArrowheads="1"/>
          </p:cNvSpPr>
          <p:nvPr>
            <p:ph idx="1"/>
          </p:nvPr>
        </p:nvSpPr>
        <p:spPr bwMode="auto">
          <a:xfrm>
            <a:off x="475130" y="1048693"/>
            <a:ext cx="9009529"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dirty="0">
                <a:latin typeface="Arial" panose="020B0604020202020204" pitchFamily="34" charset="0"/>
                <a:cs typeface="Arial" panose="020B0604020202020204" pitchFamily="34" charset="0"/>
              </a:rPr>
              <a:t>Este código corresponde al archivo ClienteController.java, el cual forma parte del microservicio de clientes. Su función principal es trabajar como un controlador REST, es decir, se encarga de recibir las peticiones que llegan desde el navegador, Bruno, </a:t>
            </a:r>
            <a:r>
              <a:rPr lang="es-MX" altLang="es-MX" sz="1600" dirty="0" err="1">
                <a:latin typeface="Arial" panose="020B0604020202020204" pitchFamily="34" charset="0"/>
                <a:cs typeface="Arial" panose="020B0604020202020204" pitchFamily="34" charset="0"/>
              </a:rPr>
              <a:t>Postman</a:t>
            </a:r>
            <a:r>
              <a:rPr lang="es-MX" altLang="es-MX" sz="1600" dirty="0">
                <a:latin typeface="Arial" panose="020B0604020202020204" pitchFamily="34" charset="0"/>
                <a:cs typeface="Arial" panose="020B0604020202020204" pitchFamily="34" charset="0"/>
              </a:rPr>
              <a:t> o desde un </a:t>
            </a:r>
            <a:r>
              <a:rPr lang="es-MX" altLang="es-MX" sz="1600" dirty="0" err="1">
                <a:latin typeface="Arial" panose="020B0604020202020204" pitchFamily="34" charset="0"/>
                <a:cs typeface="Arial" panose="020B0604020202020204" pitchFamily="34" charset="0"/>
              </a:rPr>
              <a:t>frontend</a:t>
            </a:r>
            <a:r>
              <a:rPr lang="es-MX" altLang="es-MX" sz="1600" dirty="0">
                <a:latin typeface="Arial" panose="020B0604020202020204" pitchFamily="34" charset="0"/>
                <a:cs typeface="Arial" panose="020B0604020202020204" pitchFamily="34" charset="0"/>
              </a:rPr>
              <a:t> como Angular. Para esto se utiliza la anotación @RestController, que indica que esta clase va a responder solicitudes HTTP.</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1600" dirty="0">
                <a:latin typeface="Arial" panose="020B0604020202020204" pitchFamily="34" charset="0"/>
                <a:cs typeface="Arial" panose="020B0604020202020204" pitchFamily="34" charset="0"/>
              </a:rPr>
              <a:t>También se usa @RequestMapping("/clientes"), lo que significa que todos los </a:t>
            </a:r>
            <a:r>
              <a:rPr lang="es-MX" altLang="es-MX" sz="1600" dirty="0" err="1">
                <a:latin typeface="Arial" panose="020B0604020202020204" pitchFamily="34" charset="0"/>
                <a:cs typeface="Arial" panose="020B0604020202020204" pitchFamily="34" charset="0"/>
              </a:rPr>
              <a:t>endpoints</a:t>
            </a:r>
            <a:r>
              <a:rPr lang="es-MX" altLang="es-MX" sz="1600" dirty="0">
                <a:latin typeface="Arial" panose="020B0604020202020204" pitchFamily="34" charset="0"/>
                <a:cs typeface="Arial" panose="020B0604020202020204" pitchFamily="34" charset="0"/>
              </a:rPr>
              <a:t> de este controlador van a iniciar con la ruta /clientes. Además, con @CrossOrigin(origins = "*") se permite que otras aplicaciones puedan consumir este microservicio sin problemas de conexión. En el código también se observa que se manda llamar a </a:t>
            </a:r>
            <a:r>
              <a:rPr lang="es-MX" altLang="es-MX" sz="1600" dirty="0" err="1">
                <a:latin typeface="Arial" panose="020B0604020202020204" pitchFamily="34" charset="0"/>
                <a:cs typeface="Arial" panose="020B0604020202020204" pitchFamily="34" charset="0"/>
              </a:rPr>
              <a:t>ClienteService</a:t>
            </a:r>
            <a:r>
              <a:rPr lang="es-MX" altLang="es-MX" sz="1600" dirty="0">
                <a:latin typeface="Arial" panose="020B0604020202020204" pitchFamily="34" charset="0"/>
                <a:cs typeface="Arial" panose="020B0604020202020204" pitchFamily="34" charset="0"/>
              </a:rPr>
              <a:t>, el cual contiene la lógica del sistema, por lo que el controlador solo recibe la solicitud y devuelve la respuesta correspondiente.</a:t>
            </a:r>
          </a:p>
        </p:txBody>
      </p:sp>
    </p:spTree>
    <p:extLst>
      <p:ext uri="{BB962C8B-B14F-4D97-AF65-F5344CB8AC3E}">
        <p14:creationId xmlns:p14="http://schemas.microsoft.com/office/powerpoint/2010/main" val="2316902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A5D04CBE-F46F-4381-86EA-345DC6A1DC92}"/>
              </a:ext>
            </a:extLst>
          </p:cNvPr>
          <p:cNvPicPr>
            <a:picLocks noGrp="1" noChangeAspect="1"/>
          </p:cNvPicPr>
          <p:nvPr>
            <p:ph idx="1"/>
          </p:nvPr>
        </p:nvPicPr>
        <p:blipFill>
          <a:blip r:embed="rId2"/>
          <a:stretch>
            <a:fillRect/>
          </a:stretch>
        </p:blipFill>
        <p:spPr>
          <a:xfrm>
            <a:off x="1924120" y="107623"/>
            <a:ext cx="5373227" cy="2734189"/>
          </a:xfrm>
        </p:spPr>
      </p:pic>
      <p:sp>
        <p:nvSpPr>
          <p:cNvPr id="6" name="CuadroTexto 5">
            <a:extLst>
              <a:ext uri="{FF2B5EF4-FFF2-40B4-BE49-F238E27FC236}">
                <a16:creationId xmlns:a16="http://schemas.microsoft.com/office/drawing/2014/main" id="{45941431-BC37-4031-B26E-FAF726FCA929}"/>
              </a:ext>
            </a:extLst>
          </p:cNvPr>
          <p:cNvSpPr txBox="1"/>
          <p:nvPr/>
        </p:nvSpPr>
        <p:spPr>
          <a:xfrm>
            <a:off x="206190" y="3119717"/>
            <a:ext cx="9439834" cy="2462213"/>
          </a:xfrm>
          <a:prstGeom prst="rect">
            <a:avLst/>
          </a:prstGeom>
          <a:noFill/>
        </p:spPr>
        <p:txBody>
          <a:bodyPr wrap="square" rtlCol="0">
            <a:spAutoFit/>
          </a:bodyPr>
          <a:lstStyle/>
          <a:p>
            <a:pPr algn="just"/>
            <a:r>
              <a:rPr lang="es-MX" sz="1400" dirty="0">
                <a:latin typeface="Arial" panose="020B0604020202020204" pitchFamily="34" charset="0"/>
                <a:cs typeface="Arial" panose="020B0604020202020204" pitchFamily="34" charset="0"/>
              </a:rPr>
              <a:t>Este código corresponde al archivo EstudianteControllerTest.java, el cual se encarga de realizar una prueba de integración dentro del microservicio de estudiantes. A diferencia de una prueba unitaria, aquí se carga una parte más completa de la aplicación para comprobar que el controlador funcione correctamente al recibir peticiones HTTP.</a:t>
            </a:r>
          </a:p>
          <a:p>
            <a:pPr algn="just"/>
            <a:r>
              <a:rPr lang="es-MX" sz="1400" dirty="0">
                <a:latin typeface="Arial" panose="020B0604020202020204" pitchFamily="34" charset="0"/>
                <a:cs typeface="Arial" panose="020B0604020202020204" pitchFamily="34" charset="0"/>
              </a:rPr>
              <a:t>En la imagen se observa el uso de @SpringBootTest, que permite iniciar el contexto de Spring </a:t>
            </a:r>
            <a:r>
              <a:rPr lang="es-MX" sz="1400" dirty="0" err="1">
                <a:latin typeface="Arial" panose="020B0604020202020204" pitchFamily="34" charset="0"/>
                <a:cs typeface="Arial" panose="020B0604020202020204" pitchFamily="34" charset="0"/>
              </a:rPr>
              <a:t>Boot</a:t>
            </a:r>
            <a:r>
              <a:rPr lang="es-MX" sz="1400" dirty="0">
                <a:latin typeface="Arial" panose="020B0604020202020204" pitchFamily="34" charset="0"/>
                <a:cs typeface="Arial" panose="020B0604020202020204" pitchFamily="34" charset="0"/>
              </a:rPr>
              <a:t>, y @AutoConfigureMockMvc, que habilita el uso de </a:t>
            </a:r>
            <a:r>
              <a:rPr lang="es-MX" sz="1400" dirty="0" err="1">
                <a:latin typeface="Arial" panose="020B0604020202020204" pitchFamily="34" charset="0"/>
                <a:cs typeface="Arial" panose="020B0604020202020204" pitchFamily="34" charset="0"/>
              </a:rPr>
              <a:t>MockMvc</a:t>
            </a:r>
            <a:r>
              <a:rPr lang="es-MX" sz="1400" dirty="0">
                <a:latin typeface="Arial" panose="020B0604020202020204" pitchFamily="34" charset="0"/>
                <a:cs typeface="Arial" panose="020B0604020202020204" pitchFamily="34" charset="0"/>
              </a:rPr>
              <a:t> para simular peticiones reales hacia los </a:t>
            </a:r>
            <a:r>
              <a:rPr lang="es-MX" sz="1400" dirty="0" err="1">
                <a:latin typeface="Arial" panose="020B0604020202020204" pitchFamily="34" charset="0"/>
                <a:cs typeface="Arial" panose="020B0604020202020204" pitchFamily="34" charset="0"/>
              </a:rPr>
              <a:t>endpoints</a:t>
            </a:r>
            <a:r>
              <a:rPr lang="es-MX" sz="1400" dirty="0">
                <a:latin typeface="Arial" panose="020B0604020202020204" pitchFamily="34" charset="0"/>
                <a:cs typeface="Arial" panose="020B0604020202020204" pitchFamily="34" charset="0"/>
              </a:rPr>
              <a:t> del controlador. Esto permite probar rutas como si se estuvieran usando desde Bruno, </a:t>
            </a:r>
            <a:r>
              <a:rPr lang="es-MX" sz="1400" dirty="0" err="1">
                <a:latin typeface="Arial" panose="020B0604020202020204" pitchFamily="34" charset="0"/>
                <a:cs typeface="Arial" panose="020B0604020202020204" pitchFamily="34" charset="0"/>
              </a:rPr>
              <a:t>Postman</a:t>
            </a:r>
            <a:r>
              <a:rPr lang="es-MX" sz="1400" dirty="0">
                <a:latin typeface="Arial" panose="020B0604020202020204" pitchFamily="34" charset="0"/>
                <a:cs typeface="Arial" panose="020B0604020202020204" pitchFamily="34" charset="0"/>
              </a:rPr>
              <a:t> o desde un </a:t>
            </a:r>
            <a:r>
              <a:rPr lang="es-MX" sz="1400" dirty="0" err="1">
                <a:latin typeface="Arial" panose="020B0604020202020204" pitchFamily="34" charset="0"/>
                <a:cs typeface="Arial" panose="020B0604020202020204" pitchFamily="34" charset="0"/>
              </a:rPr>
              <a:t>frontend</a:t>
            </a:r>
            <a:r>
              <a:rPr lang="es-MX" sz="1400" dirty="0">
                <a:latin typeface="Arial" panose="020B0604020202020204" pitchFamily="34" charset="0"/>
                <a:cs typeface="Arial" panose="020B0604020202020204" pitchFamily="34" charset="0"/>
              </a:rPr>
              <a:t>, pero sin levantar el servidor manualmente.</a:t>
            </a:r>
          </a:p>
          <a:p>
            <a:pPr algn="just"/>
            <a:r>
              <a:rPr lang="es-MX" sz="1400" dirty="0">
                <a:latin typeface="Arial" panose="020B0604020202020204" pitchFamily="34" charset="0"/>
                <a:cs typeface="Arial" panose="020B0604020202020204" pitchFamily="34" charset="0"/>
              </a:rPr>
              <a:t>También se utiliza </a:t>
            </a:r>
            <a:r>
              <a:rPr lang="es-MX" sz="1400" dirty="0" err="1">
                <a:latin typeface="Arial" panose="020B0604020202020204" pitchFamily="34" charset="0"/>
                <a:cs typeface="Arial" panose="020B0604020202020204" pitchFamily="34" charset="0"/>
              </a:rPr>
              <a:t>ObjectMapper</a:t>
            </a:r>
            <a:r>
              <a:rPr lang="es-MX" sz="1400" dirty="0">
                <a:latin typeface="Arial" panose="020B0604020202020204" pitchFamily="34" charset="0"/>
                <a:cs typeface="Arial" panose="020B0604020202020204" pitchFamily="34" charset="0"/>
              </a:rPr>
              <a:t>, el cual sirve para convertir los datos del estudiante a formato JSON. En este caso, la prueba crea un objeto Estudiante con datos como nombre, edad, teléfono, correo y dirección. Después, con </a:t>
            </a:r>
            <a:r>
              <a:rPr lang="es-MX" sz="1400" dirty="0" err="1">
                <a:latin typeface="Arial" panose="020B0604020202020204" pitchFamily="34" charset="0"/>
                <a:cs typeface="Arial" panose="020B0604020202020204" pitchFamily="34" charset="0"/>
              </a:rPr>
              <a:t>mockMvc.perform</a:t>
            </a:r>
            <a:r>
              <a:rPr lang="es-MX" sz="1400" dirty="0">
                <a:latin typeface="Arial" panose="020B0604020202020204" pitchFamily="34" charset="0"/>
                <a:cs typeface="Arial" panose="020B0604020202020204" pitchFamily="34" charset="0"/>
              </a:rPr>
              <a:t>(post("/estudiantes")), se simula una petición POST para registrar un estudiante en el sistema.</a:t>
            </a:r>
          </a:p>
          <a:p>
            <a:pPr algn="just"/>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9128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67568F-B416-4EC8-A123-C4137E883C39}"/>
              </a:ext>
            </a:extLst>
          </p:cNvPr>
          <p:cNvSpPr>
            <a:spLocks noGrp="1"/>
          </p:cNvSpPr>
          <p:nvPr>
            <p:ph type="title"/>
          </p:nvPr>
        </p:nvSpPr>
        <p:spPr>
          <a:xfrm>
            <a:off x="76200" y="434586"/>
            <a:ext cx="9601200" cy="739588"/>
          </a:xfrm>
        </p:spPr>
        <p:txBody>
          <a:bodyPr/>
          <a:lstStyle/>
          <a:p>
            <a:pPr algn="ctr"/>
            <a:r>
              <a:rPr lang="es-MX" b="1" dirty="0">
                <a:solidFill>
                  <a:schemeClr val="tx1"/>
                </a:solidFill>
                <a:latin typeface="Arial" panose="020B0604020202020204" pitchFamily="34" charset="0"/>
                <a:cs typeface="Arial" panose="020B0604020202020204" pitchFamily="34" charset="0"/>
              </a:rPr>
              <a:t>CONCLUSION</a:t>
            </a:r>
            <a:r>
              <a:rPr lang="es-MX" b="1" dirty="0">
                <a:latin typeface="Arial" panose="020B0604020202020204" pitchFamily="34" charset="0"/>
                <a:cs typeface="Arial" panose="020B0604020202020204" pitchFamily="34" charset="0"/>
              </a:rPr>
              <a:t> </a:t>
            </a:r>
          </a:p>
        </p:txBody>
      </p:sp>
      <p:sp>
        <p:nvSpPr>
          <p:cNvPr id="3" name="Marcador de contenido 2">
            <a:extLst>
              <a:ext uri="{FF2B5EF4-FFF2-40B4-BE49-F238E27FC236}">
                <a16:creationId xmlns:a16="http://schemas.microsoft.com/office/drawing/2014/main" id="{BE31BA7C-11E4-40FD-81FC-916A162D92FA}"/>
              </a:ext>
            </a:extLst>
          </p:cNvPr>
          <p:cNvSpPr>
            <a:spLocks noGrp="1"/>
          </p:cNvSpPr>
          <p:nvPr>
            <p:ph idx="1"/>
          </p:nvPr>
        </p:nvSpPr>
        <p:spPr>
          <a:xfrm>
            <a:off x="304800" y="1638300"/>
            <a:ext cx="9144000" cy="3023348"/>
          </a:xfrm>
        </p:spPr>
        <p:txBody>
          <a:bodyPr>
            <a:normAutofit/>
          </a:bodyPr>
          <a:lstStyle/>
          <a:p>
            <a:pPr marL="0" indent="0" algn="just">
              <a:buNone/>
            </a:pPr>
            <a:r>
              <a:rPr lang="es-MX" sz="1600" dirty="0">
                <a:latin typeface="Arial" panose="020B0604020202020204" pitchFamily="34" charset="0"/>
                <a:cs typeface="Arial" panose="020B0604020202020204" pitchFamily="34" charset="0"/>
              </a:rPr>
              <a:t>En esta  prueba de integración fue importante porque permitió comprobar que el controlador de estudiantes funciona correctamente al recibir una petición HTTP de tipo POST. A través de </a:t>
            </a:r>
            <a:r>
              <a:rPr lang="es-MX" sz="1600" dirty="0" err="1">
                <a:latin typeface="Arial" panose="020B0604020202020204" pitchFamily="34" charset="0"/>
                <a:cs typeface="Arial" panose="020B0604020202020204" pitchFamily="34" charset="0"/>
              </a:rPr>
              <a:t>SpringBootTest</a:t>
            </a:r>
            <a:r>
              <a:rPr lang="es-MX" sz="1600" dirty="0">
                <a:latin typeface="Arial" panose="020B0604020202020204" pitchFamily="34" charset="0"/>
                <a:cs typeface="Arial" panose="020B0604020202020204" pitchFamily="34" charset="0"/>
              </a:rPr>
              <a:t> y </a:t>
            </a:r>
            <a:r>
              <a:rPr lang="es-MX" sz="1600" dirty="0" err="1">
                <a:latin typeface="Arial" panose="020B0604020202020204" pitchFamily="34" charset="0"/>
                <a:cs typeface="Arial" panose="020B0604020202020204" pitchFamily="34" charset="0"/>
              </a:rPr>
              <a:t>MockMvc</a:t>
            </a:r>
            <a:r>
              <a:rPr lang="es-MX" sz="1600" dirty="0">
                <a:latin typeface="Arial" panose="020B0604020202020204" pitchFamily="34" charset="0"/>
                <a:cs typeface="Arial" panose="020B0604020202020204" pitchFamily="34" charset="0"/>
              </a:rPr>
              <a:t> se pudo simular el registro de un estudiante sin necesidad de utilizar herramientas externas como Bruno o </a:t>
            </a:r>
            <a:r>
              <a:rPr lang="es-MX" sz="1600" dirty="0" err="1">
                <a:latin typeface="Arial" panose="020B0604020202020204" pitchFamily="34" charset="0"/>
                <a:cs typeface="Arial" panose="020B0604020202020204" pitchFamily="34" charset="0"/>
              </a:rPr>
              <a:t>Postman</a:t>
            </a:r>
            <a:r>
              <a:rPr lang="es-MX" sz="1600" dirty="0">
                <a:latin typeface="Arial" panose="020B0604020202020204" pitchFamily="34" charset="0"/>
                <a:cs typeface="Arial" panose="020B0604020202020204" pitchFamily="34" charset="0"/>
              </a:rPr>
              <a:t>.</a:t>
            </a:r>
          </a:p>
          <a:p>
            <a:pPr marL="0" indent="0" algn="just">
              <a:buNone/>
            </a:pPr>
            <a:r>
              <a:rPr lang="es-MX" sz="1600" dirty="0">
                <a:latin typeface="Arial" panose="020B0604020202020204" pitchFamily="34" charset="0"/>
                <a:cs typeface="Arial" panose="020B0604020202020204" pitchFamily="34" charset="0"/>
              </a:rPr>
              <a:t>Además, esta actividad ayudó a verificar que los datos enviados en formato JSON fueran procesados de manera correcta y que la respuesta del sistema coincidiera con lo esperado. Esto permite confirmar que el controlador, la configuración de Spring </a:t>
            </a:r>
            <a:r>
              <a:rPr lang="es-MX" sz="1600" dirty="0" err="1">
                <a:latin typeface="Arial" panose="020B0604020202020204" pitchFamily="34" charset="0"/>
                <a:cs typeface="Arial" panose="020B0604020202020204" pitchFamily="34" charset="0"/>
              </a:rPr>
              <a:t>Boot</a:t>
            </a:r>
            <a:r>
              <a:rPr lang="es-MX" sz="1600" dirty="0">
                <a:latin typeface="Arial" panose="020B0604020202020204" pitchFamily="34" charset="0"/>
                <a:cs typeface="Arial" panose="020B0604020202020204" pitchFamily="34" charset="0"/>
              </a:rPr>
              <a:t> y la comunicación con los </a:t>
            </a:r>
            <a:r>
              <a:rPr lang="es-MX" sz="1600" dirty="0" err="1">
                <a:latin typeface="Arial" panose="020B0604020202020204" pitchFamily="34" charset="0"/>
                <a:cs typeface="Arial" panose="020B0604020202020204" pitchFamily="34" charset="0"/>
              </a:rPr>
              <a:t>endpoints</a:t>
            </a:r>
            <a:r>
              <a:rPr lang="es-MX" sz="1600" dirty="0">
                <a:latin typeface="Arial" panose="020B0604020202020204" pitchFamily="34" charset="0"/>
                <a:cs typeface="Arial" panose="020B0604020202020204" pitchFamily="34" charset="0"/>
              </a:rPr>
              <a:t> trabajan correctamente en conjunto.</a:t>
            </a:r>
          </a:p>
          <a:p>
            <a:pPr marL="0" indent="0" algn="just">
              <a:buNone/>
            </a:pPr>
            <a:r>
              <a:rPr lang="es-MX" sz="1600" dirty="0">
                <a:latin typeface="Arial" panose="020B0604020202020204" pitchFamily="34" charset="0"/>
                <a:cs typeface="Arial" panose="020B0604020202020204" pitchFamily="34" charset="0"/>
              </a:rPr>
              <a:t>Por lo tanto, esta prueba es útil para detectar posibles errores antes de ejecutar la aplicación en un entorno real.</a:t>
            </a:r>
          </a:p>
          <a:p>
            <a:pPr marL="0" indent="0" algn="just">
              <a:buNone/>
            </a:pPr>
            <a:endParaRPr lang="es-MX"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7203283"/>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522</TotalTime>
  <Words>1132</Words>
  <Application>Microsoft Office PowerPoint</Application>
  <PresentationFormat>Panorámica</PresentationFormat>
  <Paragraphs>38</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Arial</vt:lpstr>
      <vt:lpstr>Arial Black</vt:lpstr>
      <vt:lpstr>Trebuchet MS</vt:lpstr>
      <vt:lpstr>Wingdings 3</vt:lpstr>
      <vt:lpstr>Faceta</vt:lpstr>
      <vt:lpstr>Presentación de PowerPoint</vt:lpstr>
      <vt:lpstr>INTRODUCCIÓN </vt:lpstr>
      <vt:lpstr>JUSTIFICACION</vt:lpstr>
      <vt:lpstr>Este código corresponde al archivo ClienteController.java, el cual funciona como un controlador REST dentro del microservicio. Su objetivo principal es definir los endpoints o rutas que permiten realizar operaciones relacionadas con los clientes. En este controlador se usa @RestController para indicar que la clase responderá a peticiones HTTP, y @RequestMapping("/clientes") para establecer que todas las rutas empezarán con /clientes. Además, se utiliza @CrossOrigin(origins = "*") para permitir que el frontend pueda conectarse al backend sin problemas de acceso. También se observa que se inyecta el servicio ClienteService mediante @Autowired, lo que permite que el controlador pueda llamar a los métodos encargados de manejar la lógica del negocio. En este caso, el controlador no realiza directamente las consultas a la base de datos, sino que recibe las peticiones del usuario y manda la información al servicio correspondiente.</vt:lpstr>
      <vt:lpstr>Presentación de PowerPoint</vt:lpstr>
      <vt:lpstr>Presentación de PowerPoint</vt:lpstr>
      <vt:lpstr>Presentación de PowerPoint</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39</cp:revision>
  <dcterms:created xsi:type="dcterms:W3CDTF">2026-05-01T07:03:44Z</dcterms:created>
  <dcterms:modified xsi:type="dcterms:W3CDTF">2026-06-04T15:43:27Z</dcterms:modified>
</cp:coreProperties>
</file>